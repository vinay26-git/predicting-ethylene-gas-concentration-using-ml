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58" r:id="rId4"/>
    <p:sldId id="259" r:id="rId5"/>
    <p:sldId id="260" r:id="rId6"/>
    <p:sldId id="328" r:id="rId7"/>
    <p:sldId id="270" r:id="rId8"/>
    <p:sldId id="291" r:id="rId9"/>
    <p:sldId id="330" r:id="rId10"/>
    <p:sldId id="329" r:id="rId11"/>
    <p:sldId id="264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883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5BC9A-69F8-487A-B72E-007907D464F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6087E-8505-452F-AAD2-02505718D88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99" y="4410000"/>
            <a:ext cx="11880000" cy="2070000"/>
          </a:xfrm>
        </p:spPr>
        <p:txBody>
          <a:bodyPr numCol="2" anchor="ctr"/>
          <a:lstStyle>
            <a:lvl1pPr marL="0" indent="0" algn="ctr">
              <a:buNone/>
              <a:defRPr sz="2400" b="1" cap="small" baseline="0">
                <a:effectLst/>
                <a:latin typeface="Maiandra GD" panose="020E0502030308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19999" y="72000"/>
            <a:ext cx="10440000" cy="4230000"/>
          </a:xfrm>
          <a:noFill/>
        </p:spPr>
        <p:txBody>
          <a:bodyPr anchor="ctr"/>
          <a:lstStyle>
            <a:lvl1pPr algn="ctr">
              <a:defRPr sz="6000" b="1" cap="small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522855"/>
            <a:ext cx="12191999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>
            <a:lvl1pPr algn="ctr">
              <a:defRPr sz="2400" b="1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latin typeface="Centaur" panose="020305040502050203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000" y="70247"/>
            <a:ext cx="10440000" cy="135000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00" y="1455561"/>
            <a:ext cx="1188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0000" y="70247"/>
            <a:ext cx="630000" cy="1350000"/>
          </a:xfrm>
        </p:spPr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522855"/>
            <a:ext cx="12191999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b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>
            <a:lvl1pPr algn="ctr">
              <a:defRPr sz="2400" b="1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latin typeface="Centaur" panose="020305040502050203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28998"/>
            <a:ext cx="10515600" cy="3263574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2492"/>
            <a:ext cx="10515600" cy="1500187"/>
          </a:xfrm>
        </p:spPr>
        <p:txBody>
          <a:bodyPr anchor="ctr"/>
          <a:lstStyle>
            <a:lvl1pPr marL="0" indent="0" algn="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400" y="1452875"/>
            <a:ext cx="585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000" y="1452875"/>
            <a:ext cx="585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400" y="1452875"/>
            <a:ext cx="585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000" y="1452875"/>
            <a:ext cx="585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158400" y="4042359"/>
            <a:ext cx="585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210000" y="4042359"/>
            <a:ext cx="585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Hor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0000" y="1461809"/>
            <a:ext cx="1188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180000" y="4051293"/>
            <a:ext cx="1188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Content_Dissimi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400" y="1452875"/>
            <a:ext cx="387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0000" y="1454400"/>
            <a:ext cx="792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000" y="71999"/>
            <a:ext cx="10440000" cy="135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400" y="1454400"/>
            <a:ext cx="5850000" cy="630000"/>
          </a:xfr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400" y="2142000"/>
            <a:ext cx="5850000" cy="432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0000" y="1454400"/>
            <a:ext cx="5850000" cy="630000"/>
          </a:xfr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0000" y="2141237"/>
            <a:ext cx="5850000" cy="432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115998" y="2891551"/>
            <a:ext cx="396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iandra GD" panose="020E0502030308020204" pitchFamily="34" charset="0"/>
              </a:rPr>
              <a:t>Thank You!</a:t>
            </a:r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iandra GD" panose="020E0502030308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4115998" y="2891551"/>
            <a:ext cx="396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iandra GD" panose="020E0502030308020204" pitchFamily="34" charset="0"/>
              </a:rPr>
              <a:t>Thank You!</a:t>
            </a:r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GI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20000" y="70247"/>
            <a:ext cx="10440000" cy="1350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258" y="1455562"/>
            <a:ext cx="11879843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522855"/>
            <a:ext cx="12191999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b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>
            <a:lvl1pPr algn="ctr">
              <a:defRPr sz="2400" b="1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latin typeface="Centaur" panose="020305040502050203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40000" y="70247"/>
            <a:ext cx="630000" cy="1350000"/>
          </a:xfrm>
          <a:prstGeom prst="roundRect">
            <a:avLst>
              <a:gd name="adj" fmla="val 11342"/>
            </a:avLst>
          </a:prstGeom>
          <a:solidFill>
            <a:srgbClr val="002060"/>
          </a:solidFill>
          <a:ln w="38100">
            <a:noFill/>
          </a:ln>
        </p:spPr>
        <p:txBody>
          <a:bodyPr vert="horz" lIns="46800" tIns="45720" rIns="46800" bIns="45720" rtlCol="0" anchor="ctr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>
            <a:lvl1pPr algn="ctr">
              <a:defRPr sz="2800" b="1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latin typeface="Perpetua" panose="02020502060401020303" pitchFamily="18" charset="0"/>
              </a:defRPr>
            </a:lvl1pPr>
          </a:lstStyle>
          <a:p>
            <a:fld id="{EEC824EF-4F39-42CE-B61A-92299691A099}" type="slidenum">
              <a:rPr lang="en-IN" smtClean="0"/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8" y="70247"/>
            <a:ext cx="1353018" cy="13253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8" y="70247"/>
            <a:ext cx="1353018" cy="132535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strike="noStrike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entaur" panose="020305040502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67" y="2302509"/>
            <a:ext cx="5281146" cy="4220345"/>
          </a:xfrm>
        </p:spPr>
        <p:txBody>
          <a:bodyPr>
            <a:normAutofit fontScale="97500"/>
          </a:bodyPr>
          <a:lstStyle/>
          <a:p>
            <a:r>
              <a:rPr lang="en-IN" sz="1800" dirty="0">
                <a:sym typeface="+mn-ea"/>
              </a:rPr>
              <a:t>Project Guide:</a:t>
            </a:r>
            <a:r>
              <a:rPr lang="en-US" altLang="en-IN" sz="1800" dirty="0">
                <a:sym typeface="+mn-ea"/>
              </a:rPr>
              <a:t> </a:t>
            </a:r>
            <a:endParaRPr lang="en-US" altLang="en-IN" sz="1800" dirty="0">
              <a:sym typeface="+mn-ea"/>
            </a:endParaRPr>
          </a:p>
          <a:p>
            <a:r>
              <a:rPr lang="en-US" altLang="en-IN" sz="1800" dirty="0">
                <a:sym typeface="+mn-ea"/>
              </a:rPr>
              <a:t>             </a:t>
            </a:r>
            <a:endParaRPr lang="en-IN" sz="1800" dirty="0"/>
          </a:p>
          <a:p>
            <a:r>
              <a:rPr lang="en-US" altLang="en-IN" sz="1800" dirty="0">
                <a:sym typeface="+mn-ea"/>
              </a:rPr>
              <a:t> Mr Vorem Kishore</a:t>
            </a:r>
            <a:r>
              <a:rPr lang="en-IN" sz="1800" dirty="0">
                <a:sym typeface="+mn-ea"/>
              </a:rPr>
              <a:t> </a:t>
            </a:r>
            <a:endParaRPr lang="en-IN" sz="1800" dirty="0">
              <a:sym typeface="+mn-ea"/>
            </a:endParaRPr>
          </a:p>
          <a:p>
            <a:r>
              <a:rPr lang="en-US" altLang="en-IN" sz="1800" dirty="0">
                <a:sym typeface="+mn-ea"/>
              </a:rPr>
              <a:t>Assistant Professor</a:t>
            </a:r>
            <a:endParaRPr lang="en-IN" sz="1800" dirty="0">
              <a:sym typeface="+mn-ea"/>
            </a:endParaRPr>
          </a:p>
          <a:p>
            <a:r>
              <a:rPr lang="en-IN" sz="1800" dirty="0">
                <a:sym typeface="+mn-ea"/>
              </a:rPr>
              <a:t>Dept. of </a:t>
            </a:r>
            <a:r>
              <a:rPr lang="en-US" altLang="en-IN" sz="1800" dirty="0">
                <a:sym typeface="+mn-ea"/>
              </a:rPr>
              <a:t>CSE(aiml &amp; </a:t>
            </a:r>
            <a:r>
              <a:rPr lang="en-US" altLang="en-IN" sz="1800" dirty="0" err="1">
                <a:sym typeface="+mn-ea"/>
              </a:rPr>
              <a:t>iot</a:t>
            </a:r>
            <a:r>
              <a:rPr lang="en-US" altLang="en-IN" sz="1800" dirty="0">
                <a:sym typeface="+mn-ea"/>
              </a:rPr>
              <a:t>)</a:t>
            </a:r>
            <a:endParaRPr lang="en-IN" altLang="en-IN" sz="1800" dirty="0">
              <a:sym typeface="+mn-ea"/>
            </a:endParaRPr>
          </a:p>
          <a:p>
            <a:r>
              <a:rPr lang="en-IN" sz="1800" dirty="0">
                <a:sym typeface="+mn-ea"/>
              </a:rPr>
              <a:t>VNRVJIET</a:t>
            </a:r>
            <a:endParaRPr lang="en-IN" sz="1800" dirty="0">
              <a:sym typeface="+mn-ea"/>
            </a:endParaRPr>
          </a:p>
          <a:p>
            <a:br>
              <a:rPr lang="en-IN" sz="1800" dirty="0">
                <a:sym typeface="+mn-ea"/>
              </a:rPr>
            </a:br>
            <a:endParaRPr lang="en-US" alt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1620" y="0"/>
            <a:ext cx="10440035" cy="2302510"/>
          </a:xfrm>
        </p:spPr>
        <p:txBody>
          <a:bodyPr>
            <a:normAutofit/>
          </a:bodyPr>
          <a:lstStyle/>
          <a:p>
            <a:r>
              <a:rPr lang="en-US" altLang="en-US" dirty="0"/>
              <a:t>Predicting Ethylene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Concentration Using </a:t>
            </a:r>
            <a:r>
              <a:rPr lang="en-US" dirty="0" err="1"/>
              <a:t>Ml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/>
              <a:t>Department of </a:t>
            </a:r>
            <a:r>
              <a:rPr lang="en-US" altLang="en-IN"/>
              <a:t>CSE (AIML &amp; IOT)</a:t>
            </a:r>
            <a:r>
              <a:rPr lang="en-IN"/>
              <a:t>, VNRVJIET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234954" y="2895600"/>
            <a:ext cx="51098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Batch - 09</a:t>
            </a:r>
            <a:endParaRPr lang="en-US" altLang="en-IN" b="1" cap="small" dirty="0">
              <a:latin typeface="Maiandra GD" panose="020E0502030308020204" pitchFamily="34" charset="0"/>
              <a:sym typeface="+mn-ea"/>
            </a:endParaRPr>
          </a:p>
          <a:p>
            <a:pPr algn="ctr"/>
            <a:r>
              <a:rPr lang="en-IN" b="1" cap="small" dirty="0">
                <a:latin typeface="Maiandra GD" panose="020E0502030308020204" pitchFamily="34" charset="0"/>
                <a:sym typeface="+mn-ea"/>
              </a:rPr>
              <a:t>Presented by:</a:t>
            </a:r>
            <a:endParaRPr lang="en-IN" b="1" cap="small" dirty="0">
              <a:latin typeface="Maiandra GD" panose="020E0502030308020204" pitchFamily="34" charset="0"/>
              <a:sym typeface="+mn-ea"/>
            </a:endParaRPr>
          </a:p>
          <a:p>
            <a:pPr algn="ctr"/>
            <a:r>
              <a:rPr lang="en-IN" b="1" cap="small" dirty="0" err="1">
                <a:latin typeface="Maiandra GD" panose="020E0502030308020204" pitchFamily="34" charset="0"/>
                <a:sym typeface="+mn-ea"/>
              </a:rPr>
              <a:t>Jejjari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 Vinay (22071A1021)</a:t>
            </a:r>
            <a:endParaRPr lang="en-IN" b="1" cap="small" dirty="0">
              <a:latin typeface="Maiandra GD" panose="020E0502030308020204" pitchFamily="34" charset="0"/>
              <a:sym typeface="+mn-ea"/>
            </a:endParaRPr>
          </a:p>
          <a:p>
            <a:pPr algn="ctr"/>
            <a:r>
              <a:rPr lang="en-US" altLang="en-IN" b="1" cap="small" dirty="0" err="1">
                <a:latin typeface="Maiandra GD" panose="020E0502030308020204" pitchFamily="34" charset="0"/>
                <a:sym typeface="+mn-ea"/>
              </a:rPr>
              <a:t>Kammari</a:t>
            </a:r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 Shiva Sai 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(22071A102</a:t>
            </a:r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2)</a:t>
            </a:r>
            <a:endParaRPr lang="en-IN" b="1" cap="small" dirty="0">
              <a:latin typeface="Maiandra GD" panose="020E0502030308020204" pitchFamily="34" charset="0"/>
              <a:sym typeface="+mn-ea"/>
            </a:endParaRPr>
          </a:p>
          <a:p>
            <a:pPr algn="ctr"/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Kasam Manjunadh 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(22071A1024)</a:t>
            </a:r>
            <a:endParaRPr lang="en-IN" b="1" cap="small" dirty="0">
              <a:latin typeface="Maiandra GD" panose="020E0502030308020204" pitchFamily="34" charset="0"/>
            </a:endParaRPr>
          </a:p>
          <a:p>
            <a:pPr algn="ctr"/>
            <a:r>
              <a:rPr lang="en-US" altLang="en-IN" b="1" cap="small" dirty="0" err="1">
                <a:latin typeface="Maiandra GD" panose="020E0502030308020204" pitchFamily="34" charset="0"/>
                <a:sym typeface="+mn-ea"/>
              </a:rPr>
              <a:t>Kommina</a:t>
            </a:r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 Rohitha 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(22071A10</a:t>
            </a:r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27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)</a:t>
            </a:r>
            <a:endParaRPr lang="en-IN" b="1" cap="small" dirty="0">
              <a:latin typeface="Maiandra GD" panose="020E0502030308020204" pitchFamily="34" charset="0"/>
              <a:sym typeface="+mn-ea"/>
            </a:endParaRP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15" y="1452880"/>
            <a:ext cx="10746740" cy="4542155"/>
          </a:xfrm>
        </p:spPr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altLang="en-US" dirty="0"/>
              <a:t>Abstract</a:t>
            </a:r>
            <a:endParaRPr lang="en-US" altLang="en-US" dirty="0"/>
          </a:p>
          <a:p>
            <a:r>
              <a:rPr lang="en-IN" dirty="0"/>
              <a:t>Summary of Literature Review</a:t>
            </a:r>
            <a:endParaRPr lang="en-IN" dirty="0"/>
          </a:p>
          <a:p>
            <a:r>
              <a:rPr lang="en-US" altLang="en-US" dirty="0"/>
              <a:t>Proposed System</a:t>
            </a:r>
            <a:endParaRPr lang="en-US" altLang="en-US" dirty="0"/>
          </a:p>
          <a:p>
            <a:r>
              <a:rPr lang="en-US" altLang="en-US" dirty="0"/>
              <a:t>System Architecture</a:t>
            </a:r>
            <a:endParaRPr lang="en-US" altLang="en-US" dirty="0"/>
          </a:p>
          <a:p>
            <a:r>
              <a:rPr lang="en-US" altLang="en-US" dirty="0"/>
              <a:t>System Requirements</a:t>
            </a:r>
            <a:endParaRPr lang="en-US" altLang="en-US" dirty="0"/>
          </a:p>
          <a:p>
            <a:r>
              <a:rPr lang="en-US" altLang="en-US" dirty="0"/>
              <a:t>Modules</a:t>
            </a:r>
            <a:endParaRPr lang="en-US" altLang="en-US" dirty="0"/>
          </a:p>
          <a:p>
            <a:r>
              <a:rPr lang="en-US" altLang="en-US" dirty="0"/>
              <a:t>Work Flow Diagram</a:t>
            </a:r>
            <a:endParaRPr lang="en-US" altLang="en-US" dirty="0"/>
          </a:p>
          <a:p>
            <a:r>
              <a:rPr lang="en-US" altLang="en-US" dirty="0"/>
              <a:t>Status of Project Work</a:t>
            </a:r>
            <a:endParaRPr lang="en-US" altLang="en-US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Abstract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This project aims to develop a machine learning model to predict ethylene gas concentration from TGS sensor data.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r>
              <a:rPr lang="en-US" dirty="0"/>
              <a:t>It enhances early warning systems for safety in industrial, agricultural, and manufacturing environments.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system aims to provide a low-latency model for real-time applications.</a:t>
            </a:r>
            <a:endParaRPr lang="en-US" dirty="0"/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Literature Review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cs typeface="Times New Roman" panose="02020603050405020304" pitchFamily="18" charset="0"/>
              </a:rPr>
              <a:t>Gas Leaks, Especially Gases Like Ethylene are more prominent and dangerous.</a:t>
            </a:r>
            <a:endParaRPr lang="en-IN" sz="2400" dirty="0"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cs typeface="Times New Roman" panose="02020603050405020304" pitchFamily="18" charset="0"/>
              </a:rPr>
              <a:t>Ethylene is hard to detect as it’s colourless and odourless</a:t>
            </a:r>
            <a:endParaRPr lang="en-IN" sz="2400" dirty="0"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cs typeface="Times New Roman" panose="02020603050405020304" pitchFamily="18" charset="0"/>
              </a:rPr>
              <a:t>There are many methods and instruments to detect ethylene gas, but are sophisticated and expensive.</a:t>
            </a:r>
            <a:endParaRPr lang="en-IN" sz="2400" dirty="0"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cs typeface="Times New Roman" panose="02020603050405020304" pitchFamily="18" charset="0"/>
              </a:rPr>
              <a:t>Detection of ethylene gas in lower concentrations is a challenge.</a:t>
            </a:r>
            <a:endParaRPr lang="en-IN" sz="2400" dirty="0"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cs typeface="Times New Roman" panose="02020603050405020304" pitchFamily="18" charset="0"/>
              </a:rPr>
              <a:t>Solutions which use MQ Gas Sensors exist, but are more generalised and not tailored to specific gas detection.</a:t>
            </a:r>
            <a:endParaRPr lang="en-IN" sz="24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Literature Review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cs typeface="Times New Roman" panose="02020603050405020304" pitchFamily="18" charset="0"/>
              </a:rPr>
              <a:t>Literature review explores estimating specific gas concentration using multiple general-purpose sensors combined with machine learning instead of dedicated gas sensors.</a:t>
            </a:r>
            <a:endParaRPr lang="en-US" sz="2400" dirty="0"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Individual sensors have low selectivity, but their combined response forms a distinct pattern for different gases and concentrations. </a:t>
            </a:r>
            <a:endParaRPr lang="en-US" sz="2400" dirty="0"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Machine learning models learn the relationship between multi-sensor response patterns and gas concentration levels.</a:t>
            </a:r>
            <a:endParaRPr lang="en-US" sz="2400" dirty="0"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Literature review show that this sensor fusion approach can achieve accuracy comparable to specialized gas sensors.</a:t>
            </a:r>
            <a:endParaRPr lang="en-US" sz="2400" dirty="0"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The system offers advantages including lower cost, simple hardware design, easier maintenance, and scalability.</a:t>
            </a:r>
            <a:endParaRPr lang="en-US" sz="2400" dirty="0"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Detection capability can be adapted for different gases through model retraining without changing hardware.</a:t>
            </a:r>
            <a:endParaRPr lang="en-IN" sz="16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Proposed System</a:t>
            </a:r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12376" y="1882588"/>
            <a:ext cx="116476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Maiandra GD" panose="020E0502030308020204" pitchFamily="34" charset="0"/>
              </a:rPr>
              <a:t>Developing a Machine Learning Model that Can Accurately detect the Concentration of Ethylene Gas (in PPM) in a mixture of gases using raw sensor readings of Metal Oxide Semiconductor Gas Readings</a:t>
            </a:r>
            <a:endParaRPr lang="en-US" sz="2400" b="1" dirty="0">
              <a:latin typeface="Maiandra GD" panose="020E0502030308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Maiandra GD" panose="020E0502030308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Maiandra GD" panose="020E0502030308020204" pitchFamily="34" charset="0"/>
              </a:rPr>
              <a:t>Anticipating high predictive accuracy, enabling reliable ethylene concentration forecasting for leak detection and process optimization. </a:t>
            </a:r>
            <a:endParaRPr lang="en-US" sz="2400" b="1" dirty="0">
              <a:latin typeface="Maiandra GD" panose="020E0502030308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Maiandra GD" panose="020E0502030308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Maiandra GD" panose="020E0502030308020204" pitchFamily="34" charset="0"/>
              </a:rPr>
              <a:t>The resulting modular system has scope to support proactive safety alerts and environmental monitoring. It facilitates future enhancements such as multi-gas detection, real-time data integration, and advanced hybrid models.</a:t>
            </a:r>
            <a:endParaRPr lang="en-US" sz="2400" b="1" dirty="0">
              <a:latin typeface="Maiandra GD" panose="020E0502030308020204" pitchFamily="34" charset="0"/>
            </a:endParaRPr>
          </a:p>
          <a:p>
            <a:endParaRPr lang="en-IN" sz="2400" b="1" dirty="0"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System Architecture</a:t>
            </a:r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69" b="18033"/>
          <a:stretch>
            <a:fillRect/>
          </a:stretch>
        </p:blipFill>
        <p:spPr>
          <a:xfrm>
            <a:off x="970456" y="2192057"/>
            <a:ext cx="9948555" cy="3558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System Requirements</a:t>
            </a:r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265814" y="1594884"/>
            <a:ext cx="1179418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Maiandra GD" panose="020E0502030308020204" pitchFamily="34" charset="0"/>
              </a:rPr>
              <a:t>A.    Functional Requirements</a:t>
            </a:r>
            <a:endParaRPr lang="en-US" sz="2200" b="1" dirty="0">
              <a:latin typeface="Maiandra GD" panose="020E0502030308020204" pitchFamily="34" charset="0"/>
            </a:endParaRPr>
          </a:p>
          <a:p>
            <a:endParaRPr lang="en-US" sz="2200" b="1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collect raw sensor readings from Metal Oxide Semiconductor (MOS/TGS) gas sensors.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process and preprocess sensor data for noise removal and normalization.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train a machine learning model using sensor data to learn patterns related to ethylene concentration.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predict ethylene gas concentration in parts per million (PPM) from the sensor readings.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support real-time or low-latency prediction for early gas leak detection.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display predicted ethylene concentration values for monitoring and analysis.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store sensor readings and prediction outputs for further evaluation and model improvement.</a:t>
            </a:r>
            <a:endParaRPr lang="en-US" sz="2200" dirty="0">
              <a:latin typeface="Maiandra GD" panose="020E0502030308020204" pitchFamily="34" charset="0"/>
            </a:endParaRPr>
          </a:p>
          <a:p>
            <a:endParaRPr lang="en-IN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System Requirements</a:t>
            </a:r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265814" y="1594884"/>
            <a:ext cx="1179418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Maiandra GD" panose="020E0502030308020204" pitchFamily="34" charset="0"/>
              </a:rPr>
              <a:t>B.    Non - Functional Requirements</a:t>
            </a:r>
            <a:endParaRPr lang="en-US" sz="2200" b="1" dirty="0">
              <a:latin typeface="Maiandra GD" panose="020E0502030308020204" pitchFamily="34" charset="0"/>
            </a:endParaRPr>
          </a:p>
          <a:p>
            <a:endParaRPr lang="en-US" sz="2200" b="1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Accuracy: </a:t>
            </a:r>
            <a:r>
              <a:rPr lang="en-US" sz="2200" dirty="0">
                <a:latin typeface="Maiandra GD" panose="020E0502030308020204" pitchFamily="34" charset="0"/>
              </a:rPr>
              <a:t>The prediction model should provide reliable ethylene concentration estimation.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Low Latency: </a:t>
            </a:r>
            <a:r>
              <a:rPr lang="en-US" sz="2200" dirty="0">
                <a:latin typeface="Maiandra GD" panose="020E0502030308020204" pitchFamily="34" charset="0"/>
              </a:rPr>
              <a:t>The system should produce predictions quickly to enable real-time monitoring.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Scalability: </a:t>
            </a:r>
            <a:r>
              <a:rPr lang="en-US" sz="2200" dirty="0">
                <a:latin typeface="Maiandra GD" panose="020E0502030308020204" pitchFamily="34" charset="0"/>
              </a:rPr>
              <a:t>The system should support future extensions such as multi-gas detection.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Reliability: </a:t>
            </a:r>
            <a:r>
              <a:rPr lang="en-US" sz="2200" dirty="0">
                <a:latin typeface="Maiandra GD" panose="020E0502030308020204" pitchFamily="34" charset="0"/>
              </a:rPr>
              <a:t>The system should operate consistently for continuous environmental monitoring.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Maintainability: </a:t>
            </a:r>
            <a:r>
              <a:rPr lang="en-US" sz="2200" dirty="0">
                <a:latin typeface="Maiandra GD" panose="020E0502030308020204" pitchFamily="34" charset="0"/>
              </a:rPr>
              <a:t>Machine learning models should be easily updated or retrained with new data.</a:t>
            </a:r>
            <a:endParaRPr lang="en-US" sz="2200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Cost Efficiency: </a:t>
            </a:r>
            <a:r>
              <a:rPr lang="en-US" sz="2200" dirty="0">
                <a:latin typeface="Maiandra GD" panose="020E0502030308020204" pitchFamily="34" charset="0"/>
              </a:rPr>
              <a:t>The system should use low-cost general-purpose sensors and simple hardware infrastructure.</a:t>
            </a:r>
            <a:endParaRPr lang="en-IN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Work Flow Diagram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2" t="23361" r="10654" b="21130"/>
          <a:stretch>
            <a:fillRect/>
          </a:stretch>
        </p:blipFill>
        <p:spPr>
          <a:xfrm>
            <a:off x="111000" y="1502400"/>
            <a:ext cx="11970000" cy="48403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Project Structure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grpSp>
        <p:nvGrpSpPr>
          <p:cNvPr id="13" name="Group 12"/>
          <p:cNvGrpSpPr/>
          <p:nvPr/>
        </p:nvGrpSpPr>
        <p:grpSpPr>
          <a:xfrm>
            <a:off x="1936374" y="1420247"/>
            <a:ext cx="8319247" cy="5102608"/>
            <a:chOff x="1936374" y="1253448"/>
            <a:chExt cx="8319247" cy="5269407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6374" y="1253448"/>
              <a:ext cx="8319247" cy="5269407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2151529" y="5200788"/>
              <a:ext cx="5979459" cy="10386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Component : Outlier Removal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35780" y="1694696"/>
            <a:ext cx="109042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Maiandra GD" panose="020E0502030308020204" pitchFamily="34" charset="0"/>
              </a:rPr>
              <a:t>1. Loaded a large CSV dataset (~4.1 million rows) containing gas sensor readings and gas concentrations into a pandas Data Frame.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2. Removed all rows where Ethylene concentration = 0 ppm, reducing the dataset to ~1.8 million rows.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3. Applied min–max normalization to 16 sensor columns (TGS sensors), scaling each feature to the range [0, 1].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4. Defined and applied a function that: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 Grouped data by Ethylene concentration levels</a:t>
            </a:r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 Within each group, removed outliers using the IQR (Interquartile Range) method across all sensor columns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5. Produced a cleaned dataset (~1.26 million rows after outlier removal) and saved it to a new CSV file named "Removed_Outliers.csv".</a:t>
            </a:r>
            <a:endParaRPr lang="en-US" sz="1600" b="1" dirty="0"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Component : Data Smoothing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35780" y="1694696"/>
            <a:ext cx="585326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Maiandra GD" panose="020E0502030308020204" pitchFamily="34" charset="0"/>
              </a:rPr>
              <a:t>1. Loaded the cleaned dataset (Removed_Outliers.csv) and visualized the relationship between TGS2620-3 sensor values and ethylene concentration using scatter plots.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2. Applied a series of manual filtering conditions to remove remaining anomalous data points based on specific thresholds between ethylene concentration and TGS2620-3 values, progressively refining the dataset.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3. Dropped unnecessary columns, corrected column naming issues, and retained only relevant features, resulting in a dataset of approximately 1.24 million rows.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4. Applied </a:t>
            </a:r>
            <a:r>
              <a:rPr lang="en-US" sz="1600" b="1" dirty="0" err="1">
                <a:latin typeface="Maiandra GD" panose="020E0502030308020204" pitchFamily="34" charset="0"/>
              </a:rPr>
              <a:t>Savitzky</a:t>
            </a:r>
            <a:r>
              <a:rPr lang="en-US" sz="1600" b="1" dirty="0">
                <a:latin typeface="Maiandra GD" panose="020E0502030308020204" pitchFamily="34" charset="0"/>
              </a:rPr>
              <a:t>–Golay filtering (window length = 15, polynomial order = 3) to smooth all sensor signal columns and reduce noise.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5. Performed log transformation on the ethylene concentration values and saved the final processed dataset to "Final_Data.csv".</a:t>
            </a:r>
            <a:endParaRPr lang="en-US" sz="1600" b="1" dirty="0">
              <a:latin typeface="Maiandra GD" panose="020E0502030308020204" pitchFamily="34" charset="0"/>
            </a:endParaRPr>
          </a:p>
        </p:txBody>
      </p:sp>
      <p:pic>
        <p:nvPicPr>
          <p:cNvPr id="3078" name="Picture 6" descr="DataTechNotes: Smoothing Example with Savitzky-Golay Filter in Pyth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174" y="2085601"/>
            <a:ext cx="5113826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Component : Correlation Heatmap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35780" y="1694696"/>
            <a:ext cx="39533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Maiandra GD" panose="020E0502030308020204" pitchFamily="34" charset="0"/>
              </a:rPr>
              <a:t>1. Loaded the final processed dataset ("Final_Data.csv") into a pandas </a:t>
            </a:r>
            <a:r>
              <a:rPr lang="en-US" sz="1600" b="1" dirty="0" err="1">
                <a:latin typeface="Maiandra GD" panose="020E0502030308020204" pitchFamily="34" charset="0"/>
              </a:rPr>
              <a:t>DataFrame</a:t>
            </a:r>
            <a:r>
              <a:rPr lang="en-US" sz="1600" b="1" dirty="0">
                <a:latin typeface="Maiandra GD" panose="020E0502030308020204" pitchFamily="34" charset="0"/>
              </a:rPr>
              <a:t>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2. Imported visualization libraries (matplotlib and seaborn) for plotting.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3. Computed the correlation matrix of all numerical features in the dataset using </a:t>
            </a:r>
            <a:r>
              <a:rPr lang="en-US" sz="1600" b="1" dirty="0" err="1">
                <a:latin typeface="Maiandra GD" panose="020E0502030308020204" pitchFamily="34" charset="0"/>
              </a:rPr>
              <a:t>df.corr</a:t>
            </a:r>
            <a:r>
              <a:rPr lang="en-US" sz="1600" b="1" dirty="0">
                <a:latin typeface="Maiandra GD" panose="020E0502030308020204" pitchFamily="34" charset="0"/>
              </a:rPr>
              <a:t>().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4. Created a heatmap visualization of the correlation matrix using seaborn, with the "</a:t>
            </a:r>
            <a:r>
              <a:rPr lang="en-US" sz="1600" b="1" dirty="0" err="1">
                <a:latin typeface="Maiandra GD" panose="020E0502030308020204" pitchFamily="34" charset="0"/>
              </a:rPr>
              <a:t>YlGnBu</a:t>
            </a:r>
            <a:r>
              <a:rPr lang="en-US" sz="1600" b="1" dirty="0">
                <a:latin typeface="Maiandra GD" panose="020E0502030308020204" pitchFamily="34" charset="0"/>
              </a:rPr>
              <a:t>" color map and annotation enabled to display correlation values.</a:t>
            </a:r>
            <a:endParaRPr lang="en-US" sz="1600" b="1" dirty="0">
              <a:latin typeface="Maiandra GD" panose="020E0502030308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712" y="1866591"/>
            <a:ext cx="6079282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Multi Feature Polynomial Regression</a:t>
            </a:r>
            <a:endParaRPr lang="en-US" alt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35780" y="1694696"/>
            <a:ext cx="652382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Maiandra GD" panose="020E0502030308020204" pitchFamily="34" charset="0"/>
              </a:rPr>
              <a:t>1. Loaded the final processed dataset ("Final_Data.csv") and reduced its size by sampling every 50th row to improve computational efficiency.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2. Selected 16 sensor features as input variables (X) and ethylene concentration (log-transformed) as the target variable (Y), then split the data into training and testing sets (80/20).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3. Built a machine learning pipeline consisting of:</a:t>
            </a:r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- </a:t>
            </a:r>
            <a:r>
              <a:rPr lang="en-US" sz="1600" b="1" dirty="0" err="1">
                <a:latin typeface="Maiandra GD" panose="020E0502030308020204" pitchFamily="34" charset="0"/>
              </a:rPr>
              <a:t>StandardScaler</a:t>
            </a:r>
            <a:r>
              <a:rPr lang="en-US" sz="1600" b="1" dirty="0">
                <a:latin typeface="Maiandra GD" panose="020E0502030308020204" pitchFamily="34" charset="0"/>
              </a:rPr>
              <a:t> (feature scaling)</a:t>
            </a:r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- </a:t>
            </a:r>
            <a:r>
              <a:rPr lang="en-US" sz="1600" b="1" dirty="0" err="1">
                <a:latin typeface="Maiandra GD" panose="020E0502030308020204" pitchFamily="34" charset="0"/>
              </a:rPr>
              <a:t>PolynomialFeatures</a:t>
            </a:r>
            <a:r>
              <a:rPr lang="en-US" sz="1600" b="1" dirty="0">
                <a:latin typeface="Maiandra GD" panose="020E0502030308020204" pitchFamily="34" charset="0"/>
              </a:rPr>
              <a:t> (degree = 3) to capture non-linear relationships</a:t>
            </a:r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- </a:t>
            </a:r>
            <a:r>
              <a:rPr lang="en-US" sz="1600" b="1" dirty="0" err="1">
                <a:latin typeface="Maiandra GD" panose="020E0502030308020204" pitchFamily="34" charset="0"/>
              </a:rPr>
              <a:t>LinearRegression</a:t>
            </a:r>
            <a:r>
              <a:rPr lang="en-US" sz="1600" b="1" dirty="0">
                <a:latin typeface="Maiandra GD" panose="020E0502030308020204" pitchFamily="34" charset="0"/>
              </a:rPr>
              <a:t> model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4. Trained the pipeline on the training data and generated predictions (</a:t>
            </a:r>
            <a:r>
              <a:rPr lang="en-US" sz="1600" b="1" dirty="0" err="1">
                <a:latin typeface="Maiandra GD" panose="020E0502030308020204" pitchFamily="34" charset="0"/>
              </a:rPr>
              <a:t>yhat</a:t>
            </a:r>
            <a:r>
              <a:rPr lang="en-US" sz="1600" b="1" dirty="0">
                <a:latin typeface="Maiandra GD" panose="020E0502030308020204" pitchFamily="34" charset="0"/>
              </a:rPr>
              <a:t>) on the test set.</a:t>
            </a:r>
            <a:endParaRPr lang="en-US" sz="1600" b="1" dirty="0">
              <a:latin typeface="Maiandra GD" panose="020E0502030308020204" pitchFamily="34" charset="0"/>
            </a:endParaRP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5. Visualized model performance using:</a:t>
            </a:r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- Distribution plots comparing actual vs predicted values</a:t>
            </a:r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- Scatter plot of sensor readings vs predictions</a:t>
            </a:r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- Actual vs predicted scatter plot with a reference diagonal line</a:t>
            </a:r>
            <a:endParaRPr lang="en-US" sz="1600" b="1" dirty="0">
              <a:latin typeface="Maiandra GD" panose="020E0502030308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601" y="1996400"/>
            <a:ext cx="4678619" cy="34078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Multi Feature Polynomial Regression</a:t>
            </a:r>
            <a:endParaRPr lang="en-US" alt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35780" y="1694696"/>
            <a:ext cx="66457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6. Evaluated model performance using metrics: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Mean Squared Error ≈ 0.00107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R² Score ≈ 0.985 (very high accuracy)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R² Error ≈ 0.0148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7. Saved the trained model to a file ("</a:t>
            </a:r>
            <a:r>
              <a:rPr lang="en-US" b="1" dirty="0" err="1">
                <a:latin typeface="Maiandra GD" panose="020E0502030308020204" pitchFamily="34" charset="0"/>
              </a:rPr>
              <a:t>ethylene_polynomial.pkl</a:t>
            </a:r>
            <a:r>
              <a:rPr lang="en-US" b="1" dirty="0">
                <a:latin typeface="Maiandra GD" panose="020E0502030308020204" pitchFamily="34" charset="0"/>
              </a:rPr>
              <a:t>") using </a:t>
            </a:r>
            <a:r>
              <a:rPr lang="en-US" b="1" dirty="0" err="1">
                <a:latin typeface="Maiandra GD" panose="020E0502030308020204" pitchFamily="34" charset="0"/>
              </a:rPr>
              <a:t>joblib</a:t>
            </a:r>
            <a:r>
              <a:rPr lang="en-US" b="1" dirty="0">
                <a:latin typeface="Maiandra GD" panose="020E0502030308020204" pitchFamily="34" charset="0"/>
              </a:rPr>
              <a:t> and reloaded it for reuse.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8. Tested the saved model on a sample input and converted predictions back from log scale to ppm, showing close agreement between actual (~10 ppm) and predicted (~9.98 ppm) values.</a:t>
            </a:r>
            <a:endParaRPr lang="en-US" b="1" dirty="0">
              <a:latin typeface="Maiandra GD" panose="020E0502030308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741" y="2414744"/>
            <a:ext cx="3791479" cy="24292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PR With K Fold Cross Validation</a:t>
            </a:r>
            <a:endParaRPr lang="en-US" alt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35780" y="1694696"/>
            <a:ext cx="66457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1. Loaded the final processed dataset ("Final_Data.csv") and reduced its size by sampling every 50th row to improve efficiency.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2. Selected 16 sensor features as input variables (X) and ethylene concentration as the target variable (Y).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3. Implemented a function to evaluate polynomial regression models of different degrees (1 to 3) using K-Fold cross-validation (10 splits), calculating Mean Squared Error (MSE) for each degree.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4. Plotted MSE vs polynomial degree to analyze how model complexity affects performance and to help choose the optimal degree.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014" y="2163338"/>
            <a:ext cx="4411986" cy="33181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PR With K Fold Cross Validation</a:t>
            </a:r>
            <a:endParaRPr lang="en-US" alt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35780" y="1694696"/>
            <a:ext cx="117562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5. Built a polynomial regression pipeline (degree = 2) with: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</a:t>
            </a:r>
            <a:r>
              <a:rPr lang="en-US" b="1" dirty="0" err="1">
                <a:latin typeface="Maiandra GD" panose="020E0502030308020204" pitchFamily="34" charset="0"/>
              </a:rPr>
              <a:t>StandardScaler</a:t>
            </a:r>
            <a:r>
              <a:rPr lang="en-US" b="1" dirty="0">
                <a:latin typeface="Maiandra GD" panose="020E0502030308020204" pitchFamily="34" charset="0"/>
              </a:rPr>
              <a:t> (feature scaling)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</a:t>
            </a:r>
            <a:r>
              <a:rPr lang="en-US" b="1" dirty="0" err="1">
                <a:latin typeface="Maiandra GD" panose="020E0502030308020204" pitchFamily="34" charset="0"/>
              </a:rPr>
              <a:t>PolynomialFeatures</a:t>
            </a:r>
            <a:r>
              <a:rPr lang="en-US" b="1" dirty="0">
                <a:latin typeface="Maiandra GD" panose="020E0502030308020204" pitchFamily="34" charset="0"/>
              </a:rPr>
              <a:t> (degree = 2)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</a:t>
            </a:r>
            <a:r>
              <a:rPr lang="en-US" b="1" dirty="0" err="1">
                <a:latin typeface="Maiandra GD" panose="020E0502030308020204" pitchFamily="34" charset="0"/>
              </a:rPr>
              <a:t>LinearRegression</a:t>
            </a:r>
            <a:r>
              <a:rPr lang="en-US" b="1" dirty="0">
                <a:latin typeface="Maiandra GD" panose="020E0502030308020204" pitchFamily="34" charset="0"/>
              </a:rPr>
              <a:t> model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6. Evaluated the model using 10-fold cross-validation, computing: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Negative Mean Squared Error (used internally by </a:t>
            </a:r>
            <a:r>
              <a:rPr lang="en-US" b="1" dirty="0" err="1">
                <a:latin typeface="Maiandra GD" panose="020E0502030308020204" pitchFamily="34" charset="0"/>
              </a:rPr>
              <a:t>sklearn</a:t>
            </a:r>
            <a:r>
              <a:rPr lang="en-US" b="1" dirty="0">
                <a:latin typeface="Maiandra GD" panose="020E0502030308020204" pitchFamily="34" charset="0"/>
              </a:rPr>
              <a:t>)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R² scores for each fold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7. Visualized the distribution of R² scores across folds using a histogram.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8. Reported final evaluation metrics: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Average MSE ≈ -0.00161 (negative due to scoring convention)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Standard deviation of MSE ≈ 0.00018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Average R² ≈ 0.978</a:t>
            </a:r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   - R² error ≈ 0.022</a:t>
            </a:r>
            <a:endParaRPr lang="en-US" b="1" dirty="0">
              <a:latin typeface="Maiandra GD" panose="020E0502030308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rcRect r="10790"/>
          <a:stretch>
            <a:fillRect/>
          </a:stretch>
        </p:blipFill>
        <p:spPr>
          <a:xfrm>
            <a:off x="7308146" y="4988560"/>
            <a:ext cx="4564989" cy="1381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Sensitivity Plots</a:t>
            </a:r>
            <a:endParaRPr lang="en-US" alt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35780" y="1694696"/>
            <a:ext cx="67168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1. Loaded the final processed dataset ("Final_Data.csv") into a pandas </a:t>
            </a:r>
            <a:r>
              <a:rPr lang="en-US" b="1" dirty="0" err="1">
                <a:latin typeface="Maiandra GD" panose="020E0502030308020204" pitchFamily="34" charset="0"/>
              </a:rPr>
              <a:t>DataFrame</a:t>
            </a:r>
            <a:r>
              <a:rPr lang="en-US" b="1" dirty="0">
                <a:latin typeface="Maiandra GD" panose="020E0502030308020204" pitchFamily="34" charset="0"/>
              </a:rPr>
              <a:t> and inspected the initial rows.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2. Converted the ethylene concentration values back from logarithmic scale to original ppm values using the exponential function.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3. Selected ethylene concentration as the independent variable and TGS2620-3 sensor readings as the dependent variable for analysis.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4. Created a scatter plot to visualize the relationship between ethylene concentration (ppm) and normalized sensor sensitivity.</a:t>
            </a:r>
            <a:endParaRPr lang="en-US" b="1" dirty="0">
              <a:latin typeface="Maiandra GD" panose="020E0502030308020204" pitchFamily="34" charset="0"/>
            </a:endParaRP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5. Configured the plot with labels, title, grid, and styling to clearly show how the TGS2620-3 sensor responds to varying ethylene concentrations.</a:t>
            </a:r>
            <a:endParaRPr lang="en-US" b="1" dirty="0">
              <a:latin typeface="Maiandra GD" panose="020E0502030308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2640" y="2285467"/>
            <a:ext cx="4532093" cy="29303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Reviews-De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ProjectReviews-Dept</Template>
  <TotalTime>0</TotalTime>
  <Words>9921</Words>
  <Application>WPS Presentation</Application>
  <PresentationFormat>Widescreen</PresentationFormat>
  <Paragraphs>287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Centaur</vt:lpstr>
      <vt:lpstr>PMingLiU-ExtB</vt:lpstr>
      <vt:lpstr>Tahoma</vt:lpstr>
      <vt:lpstr>Perpetua</vt:lpstr>
      <vt:lpstr>Maiandra GD</vt:lpstr>
      <vt:lpstr>Times New Roman</vt:lpstr>
      <vt:lpstr>Calibri</vt:lpstr>
      <vt:lpstr>Microsoft YaHei</vt:lpstr>
      <vt:lpstr>Arial Unicode MS</vt:lpstr>
      <vt:lpstr>ProjectReviews-Dept</vt:lpstr>
      <vt:lpstr>Predicting Ethylene  Concentration Using Ml</vt:lpstr>
      <vt:lpstr>Agenda</vt:lpstr>
      <vt:lpstr>Abstract</vt:lpstr>
      <vt:lpstr>Summary of Literature Review</vt:lpstr>
      <vt:lpstr>Summary of Literature Review</vt:lpstr>
      <vt:lpstr>Proposed System</vt:lpstr>
      <vt:lpstr>System Architecture</vt:lpstr>
      <vt:lpstr>System Requirements</vt:lpstr>
      <vt:lpstr>System Requirements</vt:lpstr>
      <vt:lpstr>Work Flow Diagram</vt:lpstr>
      <vt:lpstr>Project Structure</vt:lpstr>
      <vt:lpstr>Component : Outlier Removal</vt:lpstr>
      <vt:lpstr>Component : Data Smoothing</vt:lpstr>
      <vt:lpstr>Component : Correlation Heatmap</vt:lpstr>
      <vt:lpstr>Component : Multi Feature Polynomial Regression</vt:lpstr>
      <vt:lpstr>Component : Multi Feature Polynomial Regression</vt:lpstr>
      <vt:lpstr>Component : PR With K Fold Cross Validation</vt:lpstr>
      <vt:lpstr>Component : PR With K Fold Cross Validation</vt:lpstr>
      <vt:lpstr>Component : Sensitivity Plots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Chakravarthula Kiran</dc:creator>
  <cp:lastModifiedBy>Work</cp:lastModifiedBy>
  <cp:revision>56</cp:revision>
  <dcterms:created xsi:type="dcterms:W3CDTF">2017-05-02T09:27:00Z</dcterms:created>
  <dcterms:modified xsi:type="dcterms:W3CDTF">2026-05-03T14:09:40Z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9A8C4CED882F480EBC6E1DB52948737A_13</vt:lpwstr>
  </property>
  <property fmtid="{D5CDD505-2E9C-101B-9397-08002B2CF9AE}" pid="3" name="KSOProductBuildVer">
    <vt:lpwstr>1033-12.1.0.25862</vt:lpwstr>
  </property>
</Properties>
</file>