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328" r:id="rId6"/>
    <p:sldId id="270" r:id="rId7"/>
    <p:sldId id="291" r:id="rId8"/>
    <p:sldId id="330" r:id="rId9"/>
    <p:sldId id="329" r:id="rId10"/>
    <p:sldId id="264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883" y="278"/>
      </p:cViewPr>
      <p:guideLst>
        <p:guide orient="horz" pos="2160"/>
        <p:guide pos="38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5BC9A-69F8-487A-B72E-007907D464F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A6087E-8505-452F-AAD2-02505718D88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999" y="4410000"/>
            <a:ext cx="11880000" cy="2070000"/>
          </a:xfrm>
        </p:spPr>
        <p:txBody>
          <a:bodyPr numCol="2" anchor="ctr"/>
          <a:lstStyle>
            <a:lvl1pPr marL="0" indent="0" algn="ctr">
              <a:buNone/>
              <a:defRPr sz="2400" b="1" cap="small" baseline="0">
                <a:effectLst/>
                <a:latin typeface="Maiandra GD" panose="020E0502030308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19999" y="72000"/>
            <a:ext cx="10440000" cy="4230000"/>
          </a:xfrm>
          <a:noFill/>
        </p:spPr>
        <p:txBody>
          <a:bodyPr anchor="ctr"/>
          <a:lstStyle>
            <a:lvl1pPr algn="ctr">
              <a:defRPr sz="6000" b="1" cap="small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aur" panose="020305040502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522855"/>
            <a:ext cx="12191999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>
            <a:lvl1pPr algn="ctr">
              <a:defRPr sz="2400" b="1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latin typeface="Centaur" panose="02030504050205020304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000" y="70247"/>
            <a:ext cx="10440000" cy="135000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400" y="1455561"/>
            <a:ext cx="11880000" cy="50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0000" y="70247"/>
            <a:ext cx="630000" cy="1350000"/>
          </a:xfrm>
        </p:spPr>
        <p:txBody>
          <a:bodyPr/>
          <a:lstStyle/>
          <a:p>
            <a:fld id="{EEC824EF-4F39-42CE-B61A-92299691A09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522855"/>
            <a:ext cx="12191999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b"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>
            <a:lvl1pPr algn="ctr">
              <a:defRPr sz="2400" b="1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latin typeface="Centaur" panose="02030504050205020304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28998"/>
            <a:ext cx="10515600" cy="3263574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2492"/>
            <a:ext cx="10515600" cy="1500187"/>
          </a:xfrm>
        </p:spPr>
        <p:txBody>
          <a:bodyPr anchor="ctr"/>
          <a:lstStyle>
            <a:lvl1pPr marL="0" indent="0" algn="r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400" y="1452875"/>
            <a:ext cx="5850000" cy="50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000" y="1452875"/>
            <a:ext cx="5850000" cy="50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400" y="1452875"/>
            <a:ext cx="5850000" cy="243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000" y="1452875"/>
            <a:ext cx="5850000" cy="243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158400" y="4042359"/>
            <a:ext cx="5850000" cy="243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210000" y="4042359"/>
            <a:ext cx="5850000" cy="243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Hor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0000" y="1461809"/>
            <a:ext cx="11880000" cy="243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180000" y="4051293"/>
            <a:ext cx="11880000" cy="243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Content_Dissimi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400" y="1452875"/>
            <a:ext cx="3870000" cy="50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40000" y="1454400"/>
            <a:ext cx="7920000" cy="504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000" y="71999"/>
            <a:ext cx="10440000" cy="135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400" y="1454400"/>
            <a:ext cx="5850000" cy="630000"/>
          </a:xfr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400" y="2142000"/>
            <a:ext cx="5850000" cy="432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0000" y="1454400"/>
            <a:ext cx="5850000" cy="630000"/>
          </a:xfrm>
          <a:solidFill>
            <a:srgbClr val="002060"/>
          </a:solidFill>
          <a:ln w="38100">
            <a:solidFill>
              <a:srgbClr val="002060"/>
            </a:solidFill>
          </a:ln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0000" y="2141237"/>
            <a:ext cx="5850000" cy="4320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115998" y="2891551"/>
            <a:ext cx="3960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iandra GD" panose="020E0502030308020204" pitchFamily="34" charset="0"/>
              </a:rPr>
              <a:t>Thank You!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4115998" y="2891551"/>
            <a:ext cx="3960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iandra GD" panose="020E0502030308020204" pitchFamily="34" charset="0"/>
              </a:rPr>
              <a:t>Thank You!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20000" y="70247"/>
            <a:ext cx="10440000" cy="1350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258" y="1455562"/>
            <a:ext cx="11879843" cy="50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522855"/>
            <a:ext cx="12191999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b"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>
            <a:lvl1pPr algn="ctr">
              <a:defRPr sz="2400" b="1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latin typeface="Centaur" panose="02030504050205020304" pitchFamily="18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IN"/>
              <a:t>Department of Electronics &amp; Instrumentation Engineering, VNRVJIET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40000" y="70247"/>
            <a:ext cx="630000" cy="1350000"/>
          </a:xfrm>
          <a:prstGeom prst="roundRect">
            <a:avLst>
              <a:gd name="adj" fmla="val 11342"/>
            </a:avLst>
          </a:prstGeom>
          <a:solidFill>
            <a:srgbClr val="002060"/>
          </a:solidFill>
          <a:ln w="38100">
            <a:noFill/>
          </a:ln>
        </p:spPr>
        <p:txBody>
          <a:bodyPr vert="horz" lIns="46800" tIns="45720" rIns="46800" bIns="45720" rtlCol="0" anchor="ctr"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>
            <a:lvl1pPr algn="ctr">
              <a:defRPr sz="2800" b="1">
                <a:ln>
                  <a:solidFill>
                    <a:schemeClr val="accent4"/>
                  </a:solidFill>
                </a:ln>
                <a:solidFill>
                  <a:schemeClr val="accent4"/>
                </a:solidFill>
                <a:latin typeface="Perpetua" panose="02020502060401020303" pitchFamily="18" charset="0"/>
              </a:defRPr>
            </a:lvl1pPr>
          </a:lstStyle>
          <a:p>
            <a:fld id="{EEC824EF-4F39-42CE-B61A-92299691A099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58" y="70247"/>
            <a:ext cx="1353018" cy="13253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58" y="70247"/>
            <a:ext cx="1353018" cy="132535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strike="noStrike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entaur" panose="020305040502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Maiandra GD" panose="020E0502030308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Maiandra GD" panose="020E0502030308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Maiandra GD" panose="020E0502030308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Maiandra GD" panose="020E0502030308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Maiandra GD" panose="020E0502030308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67" y="2302509"/>
            <a:ext cx="5281146" cy="4220345"/>
          </a:xfrm>
        </p:spPr>
        <p:txBody>
          <a:bodyPr>
            <a:normAutofit fontScale="97500"/>
          </a:bodyPr>
          <a:lstStyle/>
          <a:p>
            <a:r>
              <a:rPr lang="en-IN" sz="1800" dirty="0">
                <a:sym typeface="+mn-ea"/>
              </a:rPr>
              <a:t>Project Guide:</a:t>
            </a:r>
            <a:r>
              <a:rPr lang="en-US" altLang="en-IN" sz="1800" dirty="0">
                <a:sym typeface="+mn-ea"/>
              </a:rPr>
              <a:t> </a:t>
            </a:r>
          </a:p>
          <a:p>
            <a:r>
              <a:rPr lang="en-US" altLang="en-IN" sz="1800" dirty="0">
                <a:sym typeface="+mn-ea"/>
              </a:rPr>
              <a:t>             </a:t>
            </a:r>
            <a:endParaRPr lang="en-IN" sz="1800" dirty="0"/>
          </a:p>
          <a:p>
            <a:r>
              <a:rPr lang="en-US" altLang="en-IN" sz="1800" dirty="0">
                <a:sym typeface="+mn-ea"/>
              </a:rPr>
              <a:t> Mr Vorem Kishore</a:t>
            </a:r>
            <a:r>
              <a:rPr lang="en-IN" sz="1800" dirty="0">
                <a:sym typeface="+mn-ea"/>
              </a:rPr>
              <a:t> </a:t>
            </a:r>
          </a:p>
          <a:p>
            <a:r>
              <a:rPr lang="en-US" altLang="en-IN" sz="1800" dirty="0">
                <a:sym typeface="+mn-ea"/>
              </a:rPr>
              <a:t>Assistant Professor</a:t>
            </a:r>
            <a:endParaRPr lang="en-IN" sz="1800" dirty="0">
              <a:sym typeface="+mn-ea"/>
            </a:endParaRPr>
          </a:p>
          <a:p>
            <a:r>
              <a:rPr lang="en-IN" sz="1800" dirty="0">
                <a:sym typeface="+mn-ea"/>
              </a:rPr>
              <a:t>Dept. of </a:t>
            </a:r>
            <a:r>
              <a:rPr lang="en-US" altLang="en-IN" sz="1800" dirty="0">
                <a:sym typeface="+mn-ea"/>
              </a:rPr>
              <a:t>CSE(aiml &amp; </a:t>
            </a:r>
            <a:r>
              <a:rPr lang="en-US" altLang="en-IN" sz="1800" dirty="0" err="1">
                <a:sym typeface="+mn-ea"/>
              </a:rPr>
              <a:t>iot</a:t>
            </a:r>
            <a:r>
              <a:rPr lang="en-US" altLang="en-IN" sz="1800" dirty="0">
                <a:sym typeface="+mn-ea"/>
              </a:rPr>
              <a:t>)</a:t>
            </a:r>
            <a:endParaRPr lang="en-IN" altLang="en-IN" sz="1800" dirty="0">
              <a:sym typeface="+mn-ea"/>
            </a:endParaRPr>
          </a:p>
          <a:p>
            <a:r>
              <a:rPr lang="en-IN" sz="1800" dirty="0">
                <a:sym typeface="+mn-ea"/>
              </a:rPr>
              <a:t>VNRVJIET</a:t>
            </a:r>
          </a:p>
          <a:p>
            <a:br>
              <a:rPr lang="en-IN" sz="1800" dirty="0">
                <a:sym typeface="+mn-ea"/>
              </a:rPr>
            </a:br>
            <a:endParaRPr lang="en-US" altLang="en-IN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1620" y="0"/>
            <a:ext cx="10440035" cy="2302510"/>
          </a:xfrm>
        </p:spPr>
        <p:txBody>
          <a:bodyPr>
            <a:normAutofit/>
          </a:bodyPr>
          <a:lstStyle/>
          <a:p>
            <a:r>
              <a:rPr lang="en-US" altLang="en-US" dirty="0"/>
              <a:t>Predicting Ethylene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Concentration Using </a:t>
            </a:r>
            <a:r>
              <a:rPr lang="en-US" dirty="0" err="1"/>
              <a:t>Ml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/>
              <a:t>Department of </a:t>
            </a:r>
            <a:r>
              <a:rPr lang="en-US" altLang="en-IN"/>
              <a:t>CSE (AIML &amp; IOT)</a:t>
            </a:r>
            <a:r>
              <a:rPr lang="en-IN"/>
              <a:t>, VNRVJIET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9006-31B9-3ABC-0B99-37D2EAA96AE3}"/>
              </a:ext>
            </a:extLst>
          </p:cNvPr>
          <p:cNvSpPr txBox="1"/>
          <p:nvPr/>
        </p:nvSpPr>
        <p:spPr>
          <a:xfrm>
            <a:off x="6234954" y="2895600"/>
            <a:ext cx="51098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IN" b="1" cap="small" dirty="0">
                <a:latin typeface="Maiandra GD" panose="020E0502030308020204" pitchFamily="34" charset="0"/>
                <a:sym typeface="+mn-ea"/>
              </a:rPr>
              <a:t>Batch - 09</a:t>
            </a:r>
          </a:p>
          <a:p>
            <a:pPr algn="ctr"/>
            <a:r>
              <a:rPr lang="en-IN" b="1" cap="small" dirty="0">
                <a:latin typeface="Maiandra GD" panose="020E0502030308020204" pitchFamily="34" charset="0"/>
                <a:sym typeface="+mn-ea"/>
              </a:rPr>
              <a:t>Presented by:</a:t>
            </a:r>
          </a:p>
          <a:p>
            <a:pPr algn="ctr"/>
            <a:r>
              <a:rPr lang="en-IN" b="1" cap="small" dirty="0" err="1">
                <a:latin typeface="Maiandra GD" panose="020E0502030308020204" pitchFamily="34" charset="0"/>
                <a:sym typeface="+mn-ea"/>
              </a:rPr>
              <a:t>Jejjari</a:t>
            </a:r>
            <a:r>
              <a:rPr lang="en-IN" b="1" cap="small" dirty="0">
                <a:latin typeface="Maiandra GD" panose="020E0502030308020204" pitchFamily="34" charset="0"/>
                <a:sym typeface="+mn-ea"/>
              </a:rPr>
              <a:t> Vinay (22071A1021)</a:t>
            </a:r>
          </a:p>
          <a:p>
            <a:pPr algn="ctr"/>
            <a:r>
              <a:rPr lang="en-US" altLang="en-IN" b="1" cap="small" dirty="0" err="1">
                <a:latin typeface="Maiandra GD" panose="020E0502030308020204" pitchFamily="34" charset="0"/>
                <a:sym typeface="+mn-ea"/>
              </a:rPr>
              <a:t>Kammari</a:t>
            </a:r>
            <a:r>
              <a:rPr lang="en-US" altLang="en-IN" b="1" cap="small" dirty="0">
                <a:latin typeface="Maiandra GD" panose="020E0502030308020204" pitchFamily="34" charset="0"/>
                <a:sym typeface="+mn-ea"/>
              </a:rPr>
              <a:t> Shiva Sai </a:t>
            </a:r>
            <a:r>
              <a:rPr lang="en-IN" b="1" cap="small" dirty="0">
                <a:latin typeface="Maiandra GD" panose="020E0502030308020204" pitchFamily="34" charset="0"/>
                <a:sym typeface="+mn-ea"/>
              </a:rPr>
              <a:t>(22071A102</a:t>
            </a:r>
            <a:r>
              <a:rPr lang="en-US" altLang="en-IN" b="1" cap="small" dirty="0">
                <a:latin typeface="Maiandra GD" panose="020E0502030308020204" pitchFamily="34" charset="0"/>
                <a:sym typeface="+mn-ea"/>
              </a:rPr>
              <a:t>2)</a:t>
            </a:r>
            <a:endParaRPr lang="en-IN" b="1" cap="small" dirty="0">
              <a:latin typeface="Maiandra GD" panose="020E0502030308020204" pitchFamily="34" charset="0"/>
              <a:sym typeface="+mn-ea"/>
            </a:endParaRPr>
          </a:p>
          <a:p>
            <a:pPr algn="ctr"/>
            <a:r>
              <a:rPr lang="en-US" altLang="en-IN" b="1" cap="small" dirty="0">
                <a:latin typeface="Maiandra GD" panose="020E0502030308020204" pitchFamily="34" charset="0"/>
                <a:sym typeface="+mn-ea"/>
              </a:rPr>
              <a:t>Kasam Manjunadh </a:t>
            </a:r>
            <a:r>
              <a:rPr lang="en-IN" b="1" cap="small" dirty="0">
                <a:latin typeface="Maiandra GD" panose="020E0502030308020204" pitchFamily="34" charset="0"/>
                <a:sym typeface="+mn-ea"/>
              </a:rPr>
              <a:t>(22071A1024)</a:t>
            </a:r>
            <a:endParaRPr lang="en-IN" b="1" cap="small" dirty="0">
              <a:latin typeface="Maiandra GD" panose="020E0502030308020204" pitchFamily="34" charset="0"/>
            </a:endParaRPr>
          </a:p>
          <a:p>
            <a:pPr algn="ctr"/>
            <a:r>
              <a:rPr lang="en-US" altLang="en-IN" b="1" cap="small" dirty="0" err="1">
                <a:latin typeface="Maiandra GD" panose="020E0502030308020204" pitchFamily="34" charset="0"/>
                <a:sym typeface="+mn-ea"/>
              </a:rPr>
              <a:t>Kommina</a:t>
            </a:r>
            <a:r>
              <a:rPr lang="en-US" altLang="en-IN" b="1" cap="small" dirty="0">
                <a:latin typeface="Maiandra GD" panose="020E0502030308020204" pitchFamily="34" charset="0"/>
                <a:sym typeface="+mn-ea"/>
              </a:rPr>
              <a:t> Rohitha </a:t>
            </a:r>
            <a:r>
              <a:rPr lang="en-IN" b="1" cap="small" dirty="0">
                <a:latin typeface="Maiandra GD" panose="020E0502030308020204" pitchFamily="34" charset="0"/>
                <a:sym typeface="+mn-ea"/>
              </a:rPr>
              <a:t>(22071A10</a:t>
            </a:r>
            <a:r>
              <a:rPr lang="en-US" altLang="en-IN" b="1" cap="small" dirty="0">
                <a:latin typeface="Maiandra GD" panose="020E0502030308020204" pitchFamily="34" charset="0"/>
                <a:sym typeface="+mn-ea"/>
              </a:rPr>
              <a:t>27</a:t>
            </a:r>
            <a:r>
              <a:rPr lang="en-IN" b="1" cap="small" dirty="0">
                <a:latin typeface="Maiandra GD" panose="020E0502030308020204" pitchFamily="34" charset="0"/>
                <a:sym typeface="+mn-ea"/>
              </a:rPr>
              <a:t>)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15" y="1452880"/>
            <a:ext cx="10746740" cy="4542155"/>
          </a:xfrm>
        </p:spPr>
        <p:txBody>
          <a:bodyPr>
            <a:normAutofit fontScale="92500" lnSpcReduction="10000"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US" altLang="en-US" dirty="0"/>
              <a:t>Abstract</a:t>
            </a:r>
          </a:p>
          <a:p>
            <a:r>
              <a:rPr lang="en-IN" dirty="0"/>
              <a:t>Summary of Literature Review</a:t>
            </a:r>
          </a:p>
          <a:p>
            <a:r>
              <a:rPr lang="en-US" altLang="en-US" dirty="0"/>
              <a:t>Proposed System</a:t>
            </a:r>
          </a:p>
          <a:p>
            <a:r>
              <a:rPr lang="en-US" altLang="en-US" dirty="0"/>
              <a:t>System Architecture</a:t>
            </a:r>
          </a:p>
          <a:p>
            <a:r>
              <a:rPr lang="en-US" altLang="en-US" dirty="0"/>
              <a:t>System Requirements</a:t>
            </a:r>
          </a:p>
          <a:p>
            <a:r>
              <a:rPr lang="en-US" altLang="en-US" dirty="0"/>
              <a:t>Modules</a:t>
            </a:r>
          </a:p>
          <a:p>
            <a:r>
              <a:rPr lang="en-US" altLang="en-US" dirty="0"/>
              <a:t>Work Flow Diagram</a:t>
            </a:r>
          </a:p>
          <a:p>
            <a:r>
              <a:rPr lang="en-US" altLang="en-US" dirty="0"/>
              <a:t>Status of Project Work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This project aims to develop a machine learning model to predict ethylene gas concentration from TGS sensor data.</a:t>
            </a:r>
          </a:p>
          <a:p>
            <a:pPr marL="0" indent="0" algn="just">
              <a:buNone/>
            </a:pPr>
            <a:endParaRPr lang="en-US" dirty="0"/>
          </a:p>
          <a:p>
            <a:r>
              <a:rPr lang="en-US" dirty="0"/>
              <a:t>It enhances early warning systems for safety in industrial, agricultural, and manufacturing environments.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system aims to provide a low-latency model for real-time applications.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of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cs typeface="Times New Roman" panose="02020603050405020304" pitchFamily="18" charset="0"/>
              </a:rPr>
              <a:t>Gas Leaks, Especially Gases Like Ethylene are more prominent and dangerous.</a:t>
            </a:r>
          </a:p>
          <a:p>
            <a:pPr algn="just"/>
            <a:endParaRPr lang="en-IN" sz="2400" dirty="0"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cs typeface="Times New Roman" panose="02020603050405020304" pitchFamily="18" charset="0"/>
              </a:rPr>
              <a:t>Ethylene is hard to detect as it’s colourless and odourless</a:t>
            </a:r>
          </a:p>
          <a:p>
            <a:pPr algn="just"/>
            <a:endParaRPr lang="en-IN" sz="2400" dirty="0"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cs typeface="Times New Roman" panose="02020603050405020304" pitchFamily="18" charset="0"/>
              </a:rPr>
              <a:t>There are many methods and instruments to detect ethylene gas, but are sophisticated and expensive.</a:t>
            </a:r>
          </a:p>
          <a:p>
            <a:pPr algn="just"/>
            <a:endParaRPr lang="en-IN" sz="2400" dirty="0"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cs typeface="Times New Roman" panose="02020603050405020304" pitchFamily="18" charset="0"/>
              </a:rPr>
              <a:t>Detection of ethylene gas in lower concentrations is a challenge.</a:t>
            </a:r>
          </a:p>
          <a:p>
            <a:pPr algn="just"/>
            <a:endParaRPr lang="en-IN" sz="2400" dirty="0"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cs typeface="Times New Roman" panose="02020603050405020304" pitchFamily="18" charset="0"/>
              </a:rPr>
              <a:t>Solutions which use MQ Gas Sensors exist, but are more generalised and not tailored to specific gas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F956D-434D-4B9D-EF2B-2E03DB8A0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3B483-E6DF-F2F5-4AEF-408104656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of 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EDE00-6F27-DA93-F36F-B5B2889F7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cs typeface="Times New Roman" panose="02020603050405020304" pitchFamily="18" charset="0"/>
              </a:rPr>
              <a:t>Literature review explores estimating specific gas concentration using multiple general-purpose sensors combined with machine learning instead of dedicated gas sensors.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Individual sensors have low selectivity, but their combined response forms a distinct pattern for different gases and concentrations. 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Machine learning models learn the relationship between multi-sensor response patterns and gas concentration levels.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Literature review show that this sensor fusion approach can achieve accuracy comparable to specialized gas sensors.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The system offers advantages including lower cost, simple hardware design, easier maintenance, and scalability.</a:t>
            </a:r>
          </a:p>
          <a:p>
            <a:pPr algn="just"/>
            <a:r>
              <a:rPr lang="en-US" sz="2400" dirty="0">
                <a:cs typeface="Times New Roman" panose="02020603050405020304" pitchFamily="18" charset="0"/>
              </a:rPr>
              <a:t>Detection capability can be adapted for different gases through model retraining without changing hardware.</a:t>
            </a:r>
            <a:endParaRPr lang="en-IN" sz="1600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F43D9-5361-F0B6-3DA5-31F6EC64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456ED-C6EF-F900-2BCE-76172822AE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835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Proposed System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6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412376" y="1882588"/>
            <a:ext cx="116476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Maiandra GD" panose="020E0502030308020204" pitchFamily="34" charset="0"/>
              </a:rPr>
              <a:t>Developing a Machine Learning Model that Can Accurately detect the Concentration of Ethylene Gas (in PPM) in a mixture of gases using raw sensor readings of Metal Oxide Semiconductor Gas Readings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Maiandra GD" panose="020E0502030308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Maiandra GD" panose="020E0502030308020204" pitchFamily="34" charset="0"/>
              </a:rPr>
              <a:t>Anticipating high predictive accuracy, enabling reliable ethylene concentration forecasting for leak detection and process optimization.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Maiandra GD" panose="020E0502030308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Maiandra GD" panose="020E0502030308020204" pitchFamily="34" charset="0"/>
              </a:rPr>
              <a:t>The resulting modular system has scope to support proactive safety alerts and environmental monitoring. It facilitates future enhancements such as multi-gas detection, real-time data integration, and advanced hybrid models.</a:t>
            </a:r>
          </a:p>
          <a:p>
            <a:endParaRPr lang="en-IN" sz="2400" b="1" dirty="0">
              <a:latin typeface="Maiandra GD" panose="020E0502030308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System Architecture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7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69" b="18033"/>
          <a:stretch>
            <a:fillRect/>
          </a:stretch>
        </p:blipFill>
        <p:spPr>
          <a:xfrm>
            <a:off x="970456" y="2192057"/>
            <a:ext cx="9948555" cy="3558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DBA5F-C3AE-8AE6-6DB9-259B411BE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DB165A6-2556-2E02-76D5-2C16069C3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System Requirements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99F76A1-81C5-688E-88A6-76ABBF25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8D0AC1-31BC-561F-DA58-05469343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698D2-A5F8-A231-BE70-95D8F9B96D2E}"/>
              </a:ext>
            </a:extLst>
          </p:cNvPr>
          <p:cNvSpPr txBox="1"/>
          <p:nvPr/>
        </p:nvSpPr>
        <p:spPr>
          <a:xfrm>
            <a:off x="265814" y="1594884"/>
            <a:ext cx="1179418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Maiandra GD" panose="020E0502030308020204" pitchFamily="34" charset="0"/>
              </a:rPr>
              <a:t>A.    Functional Requirements</a:t>
            </a:r>
          </a:p>
          <a:p>
            <a:endParaRPr lang="en-US" sz="2200" b="1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collect raw sensor readings from Metal Oxide Semiconductor (MOS/TGS) gas sensors.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process and preprocess sensor data for noise removal and normalization.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train a machine learning model using sensor data to learn patterns related to ethylene concentration.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predict ethylene gas concentration in parts per million (PPM) from the sensor readings.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support real-time or low-latency prediction for early gas leak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display predicted ethylene concentration values for monitoring and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Maiandra GD" panose="020E0502030308020204" pitchFamily="34" charset="0"/>
              </a:rPr>
              <a:t>The system should store sensor readings and prediction outputs for further evaluation and model improvement.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889751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D841-7104-3A70-1DC9-4176DCE6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A47C99E-8B34-7940-0923-17BC4C55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System Requirements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E7D427-E0AD-63B9-1693-D691453A1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83225E-71AC-BC50-4E22-2C5995FA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4BF86-A732-0F0A-DDCE-59285BFC400A}"/>
              </a:ext>
            </a:extLst>
          </p:cNvPr>
          <p:cNvSpPr txBox="1"/>
          <p:nvPr/>
        </p:nvSpPr>
        <p:spPr>
          <a:xfrm>
            <a:off x="265814" y="1594884"/>
            <a:ext cx="1179418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Maiandra GD" panose="020E0502030308020204" pitchFamily="34" charset="0"/>
              </a:rPr>
              <a:t>B.    Non - Functional Requirements</a:t>
            </a:r>
          </a:p>
          <a:p>
            <a:endParaRPr lang="en-US" sz="2200" b="1" dirty="0">
              <a:latin typeface="Maiandra GD" panose="020E0502030308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Maiandra GD" panose="020E0502030308020204" pitchFamily="34" charset="0"/>
              </a:rPr>
              <a:t>Accuracy: </a:t>
            </a:r>
            <a:r>
              <a:rPr lang="en-US" sz="2200" dirty="0">
                <a:latin typeface="Maiandra GD" panose="020E0502030308020204" pitchFamily="34" charset="0"/>
              </a:rPr>
              <a:t>The prediction model should provide reliable ethylene concentration estimation.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Maiandra GD" panose="020E0502030308020204" pitchFamily="34" charset="0"/>
              </a:rPr>
              <a:t>Low Latency: </a:t>
            </a:r>
            <a:r>
              <a:rPr lang="en-US" sz="2200" dirty="0">
                <a:latin typeface="Maiandra GD" panose="020E0502030308020204" pitchFamily="34" charset="0"/>
              </a:rPr>
              <a:t>The system should produce predictions quickly to enable real-time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Maiandra GD" panose="020E0502030308020204" pitchFamily="34" charset="0"/>
              </a:rPr>
              <a:t>Scalability: </a:t>
            </a:r>
            <a:r>
              <a:rPr lang="en-US" sz="2200" dirty="0">
                <a:latin typeface="Maiandra GD" panose="020E0502030308020204" pitchFamily="34" charset="0"/>
              </a:rPr>
              <a:t>The system should support future extensions such as multi-gas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Maiandra GD" panose="020E0502030308020204" pitchFamily="34" charset="0"/>
              </a:rPr>
              <a:t>Reliability: </a:t>
            </a:r>
            <a:r>
              <a:rPr lang="en-US" sz="2200" dirty="0">
                <a:latin typeface="Maiandra GD" panose="020E0502030308020204" pitchFamily="34" charset="0"/>
              </a:rPr>
              <a:t>The system should operate consistently for continuous environmental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Maiandra GD" panose="020E0502030308020204" pitchFamily="34" charset="0"/>
              </a:rPr>
              <a:t>Maintainability: </a:t>
            </a:r>
            <a:r>
              <a:rPr lang="en-US" sz="2200" dirty="0">
                <a:latin typeface="Maiandra GD" panose="020E0502030308020204" pitchFamily="34" charset="0"/>
              </a:rPr>
              <a:t>Machine learning models should be easily updated or retrained with new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Maiandra GD" panose="020E0502030308020204" pitchFamily="34" charset="0"/>
              </a:rPr>
              <a:t>Cost Efficiency: </a:t>
            </a:r>
            <a:r>
              <a:rPr lang="en-US" sz="2200" dirty="0">
                <a:latin typeface="Maiandra GD" panose="020E0502030308020204" pitchFamily="34" charset="0"/>
              </a:rPr>
              <a:t>The system should use low-cost general-purpose sensors and simple hardware infrastructure.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103091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Work Flow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2" t="23361" r="10654" b="21130"/>
          <a:stretch>
            <a:fillRect/>
          </a:stretch>
        </p:blipFill>
        <p:spPr>
          <a:xfrm>
            <a:off x="111000" y="1502400"/>
            <a:ext cx="11970000" cy="48403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17250-3791-9C56-DFC7-CA1F3512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2618-91B5-8FB2-D4D1-21DC42804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Project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C5D99-0155-1577-6D19-B721BFC1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11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F156F-BCDF-4FCC-9C82-DE096A403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D9E48E0-61D9-8E84-D487-1067E1FB3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38531C2-75A0-B4AF-CEEF-E6ED79B5D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115082B-2CE2-3BD0-9593-12EFBA19CC78}"/>
              </a:ext>
            </a:extLst>
          </p:cNvPr>
          <p:cNvGrpSpPr/>
          <p:nvPr/>
        </p:nvGrpSpPr>
        <p:grpSpPr>
          <a:xfrm>
            <a:off x="1936374" y="1420247"/>
            <a:ext cx="8319247" cy="5102608"/>
            <a:chOff x="1936374" y="1253448"/>
            <a:chExt cx="8319247" cy="526940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6BD6FD6-7301-78DE-D8C0-AE8922907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36374" y="1253448"/>
              <a:ext cx="8319247" cy="526940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402D64B-54DB-445F-751F-79D4DE0EFE80}"/>
                </a:ext>
              </a:extLst>
            </p:cNvPr>
            <p:cNvSpPr/>
            <p:nvPr/>
          </p:nvSpPr>
          <p:spPr>
            <a:xfrm>
              <a:off x="2151529" y="5200788"/>
              <a:ext cx="5979459" cy="10386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44208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A0049-BD10-7864-0AA1-A26012599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087B-BAC9-5670-5F87-223ADBF6E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Component : Outlier Removal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BD018-7981-4D26-DCA4-A64BD2B6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12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6BDC4-EB10-8A36-4492-A2FA5E4B5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FBCD767-3FA5-F143-96D1-8513215A1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D0BF768-57FB-D404-7B3B-D4317D578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7FDFE5-0823-8FF4-6916-D9FB0EE897E7}"/>
              </a:ext>
            </a:extLst>
          </p:cNvPr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401EC7-70A1-FD59-0530-72F2E1471CC9}"/>
              </a:ext>
            </a:extLst>
          </p:cNvPr>
          <p:cNvSpPr txBox="1"/>
          <p:nvPr/>
        </p:nvSpPr>
        <p:spPr>
          <a:xfrm>
            <a:off x="435780" y="1694696"/>
            <a:ext cx="1090422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Maiandra GD" panose="020E0502030308020204" pitchFamily="34" charset="0"/>
              </a:rPr>
              <a:t>1. Loaded a large CSV dataset (~4.1 million rows) containing gas sensor readings and gas concentrations into a pandas Data Frame.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2. Removed all rows where Ethylene concentration = 0 ppm, reducing the dataset to ~1.8 million rows.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3. Applied min–max normalization to 16 sensor columns (TGS sensors), scaling each feature to the range [0, 1].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4. Defined and applied a function that: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    Grouped data by Ethylene concentration levels</a:t>
            </a:r>
          </a:p>
          <a:p>
            <a:r>
              <a:rPr lang="en-US" sz="1600" b="1" dirty="0">
                <a:latin typeface="Maiandra GD" panose="020E0502030308020204" pitchFamily="34" charset="0"/>
              </a:rPr>
              <a:t>    Within each group, removed outliers using the IQR (Interquartile Range) method across all sensor columns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5. Produced a cleaned dataset (~1.26 million rows after outlier removal) and saved it to a new CSV file named "Removed_Outliers.csv".</a:t>
            </a:r>
          </a:p>
        </p:txBody>
      </p:sp>
    </p:spTree>
    <p:extLst>
      <p:ext uri="{BB962C8B-B14F-4D97-AF65-F5344CB8AC3E}">
        <p14:creationId xmlns:p14="http://schemas.microsoft.com/office/powerpoint/2010/main" val="3287178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C8211-CBB6-F321-60C5-EDE3F068F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6B71E-9FE9-142F-BC1C-B7070DCA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Component : Data Smoothing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1CE0C-3DE9-51AE-2268-F50A2CF1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13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90F2A-A84B-0761-1CB5-F4FA5F9D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597E836-82B0-6533-607B-6A292F82C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72DB98A-D54D-1C5E-EB6B-CE17709D3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F08159-A9E1-E917-B999-5D48E24FE20F}"/>
              </a:ext>
            </a:extLst>
          </p:cNvPr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8444FB-6508-271A-32A5-3EFE29AD1181}"/>
              </a:ext>
            </a:extLst>
          </p:cNvPr>
          <p:cNvSpPr txBox="1"/>
          <p:nvPr/>
        </p:nvSpPr>
        <p:spPr>
          <a:xfrm>
            <a:off x="435780" y="1694696"/>
            <a:ext cx="585326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Maiandra GD" panose="020E0502030308020204" pitchFamily="34" charset="0"/>
              </a:rPr>
              <a:t>1. Loaded the cleaned dataset (Removed_Outliers.csv) and visualized the relationship between TGS2620-3 sensor values and ethylene concentration using scatter plots.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2. Applied a series of manual filtering conditions to remove remaining anomalous data points based on specific thresholds between ethylene concentration and TGS2620-3 values, progressively refining the dataset.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3. Dropped unnecessary columns, corrected column naming issues, and retained only relevant features, resulting in a dataset of approximately 1.24 million rows.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4. Applied </a:t>
            </a:r>
            <a:r>
              <a:rPr lang="en-US" sz="1600" b="1" dirty="0" err="1">
                <a:latin typeface="Maiandra GD" panose="020E0502030308020204" pitchFamily="34" charset="0"/>
              </a:rPr>
              <a:t>Savitzky</a:t>
            </a:r>
            <a:r>
              <a:rPr lang="en-US" sz="1600" b="1" dirty="0">
                <a:latin typeface="Maiandra GD" panose="020E0502030308020204" pitchFamily="34" charset="0"/>
              </a:rPr>
              <a:t>–Golay filtering (window length = 15, polynomial order = 3) to smooth all sensor signal columns and reduce noise.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5. Performed log transformation on the ethylene concentration values and saved the final processed dataset to "Final_Data.csv".</a:t>
            </a:r>
          </a:p>
        </p:txBody>
      </p:sp>
      <p:pic>
        <p:nvPicPr>
          <p:cNvPr id="3078" name="Picture 6" descr="DataTechNotes: Smoothing Example with Savitzky-Golay Filter in Python">
            <a:extLst>
              <a:ext uri="{FF2B5EF4-FFF2-40B4-BE49-F238E27FC236}">
                <a16:creationId xmlns:a16="http://schemas.microsoft.com/office/drawing/2014/main" id="{7D98FAFA-359C-F1BD-3627-E49389304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174" y="2085601"/>
            <a:ext cx="5113826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82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5453B-5768-0A69-9BC5-CE160395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0ED2B-D77D-8E5D-D944-848F3BE1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Component : Correlation Heatmap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4646C-473C-9198-1986-DE5DC5A0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14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7BB10-B935-B902-4296-C759B4706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877794A-B636-1AA5-BA60-2676B5837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3F0374D-BBCF-1DC2-9EB9-43559C4B9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3A7BCF-A167-74FC-71A8-267456D56142}"/>
              </a:ext>
            </a:extLst>
          </p:cNvPr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BE8B6E-B27C-AB6F-F7B4-6C7C01C396D7}"/>
              </a:ext>
            </a:extLst>
          </p:cNvPr>
          <p:cNvSpPr txBox="1"/>
          <p:nvPr/>
        </p:nvSpPr>
        <p:spPr>
          <a:xfrm>
            <a:off x="435780" y="1694696"/>
            <a:ext cx="39533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Maiandra GD" panose="020E0502030308020204" pitchFamily="34" charset="0"/>
              </a:rPr>
              <a:t>1. Loaded the final processed dataset ("Final_Data.csv") into a pandas </a:t>
            </a:r>
            <a:r>
              <a:rPr lang="en-US" sz="1600" b="1" dirty="0" err="1">
                <a:latin typeface="Maiandra GD" panose="020E0502030308020204" pitchFamily="34" charset="0"/>
              </a:rPr>
              <a:t>DataFrame</a:t>
            </a:r>
            <a:r>
              <a:rPr lang="en-US" sz="1600" b="1" dirty="0">
                <a:latin typeface="Maiandra GD" panose="020E0502030308020204" pitchFamily="34" charset="0"/>
              </a:rPr>
              <a:t>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2. Imported visualization libraries (matplotlib and seaborn) for plotting.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3. Computed the correlation matrix of all numerical features in the dataset using </a:t>
            </a:r>
            <a:r>
              <a:rPr lang="en-US" sz="1600" b="1" dirty="0" err="1">
                <a:latin typeface="Maiandra GD" panose="020E0502030308020204" pitchFamily="34" charset="0"/>
              </a:rPr>
              <a:t>df.corr</a:t>
            </a:r>
            <a:r>
              <a:rPr lang="en-US" sz="1600" b="1" dirty="0">
                <a:latin typeface="Maiandra GD" panose="020E0502030308020204" pitchFamily="34" charset="0"/>
              </a:rPr>
              <a:t>().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4. Created a heatmap visualization of the correlation matrix using seaborn, with the "</a:t>
            </a:r>
            <a:r>
              <a:rPr lang="en-US" sz="1600" b="1" dirty="0" err="1">
                <a:latin typeface="Maiandra GD" panose="020E0502030308020204" pitchFamily="34" charset="0"/>
              </a:rPr>
              <a:t>YlGnBu</a:t>
            </a:r>
            <a:r>
              <a:rPr lang="en-US" sz="1600" b="1" dirty="0">
                <a:latin typeface="Maiandra GD" panose="020E0502030308020204" pitchFamily="34" charset="0"/>
              </a:rPr>
              <a:t>" color map and annotation enabled to display correlation values.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0DA8F3-B634-E12F-8762-611CC90A2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712" y="1866591"/>
            <a:ext cx="6079282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95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453A1-502D-3776-DBA4-19282AAE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5BB7-76EF-2C2A-12AC-86FEC203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Component : Multi Feature Polynomial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0747F-6CB6-6C33-D779-579DA707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15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51152-E3F6-CC42-BFE7-7BE4F22FF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A20670D-317D-E59D-2D46-D14A37BE8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BBDB0C0-2F19-EA09-93DF-12C0C9E8B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DF2CC8-78EF-548C-EBA0-166C89221D05}"/>
              </a:ext>
            </a:extLst>
          </p:cNvPr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E2A67-57EC-F654-5424-3BE6436BBFCD}"/>
              </a:ext>
            </a:extLst>
          </p:cNvPr>
          <p:cNvSpPr txBox="1"/>
          <p:nvPr/>
        </p:nvSpPr>
        <p:spPr>
          <a:xfrm>
            <a:off x="435780" y="1694696"/>
            <a:ext cx="652382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Maiandra GD" panose="020E0502030308020204" pitchFamily="34" charset="0"/>
              </a:rPr>
              <a:t>1. Loaded the final processed dataset ("Final_Data.csv") and reduced its size by sampling every 50th row to improve computational efficiency.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2. Selected 16 sensor features as input variables (X) and ethylene concentration (log-transformed) as the target variable (Y), then split the data into training and testing sets (80/20).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3. Built a machine learning pipeline consisting of:</a:t>
            </a:r>
          </a:p>
          <a:p>
            <a:r>
              <a:rPr lang="en-US" sz="1600" b="1" dirty="0">
                <a:latin typeface="Maiandra GD" panose="020E0502030308020204" pitchFamily="34" charset="0"/>
              </a:rPr>
              <a:t>   - </a:t>
            </a:r>
            <a:r>
              <a:rPr lang="en-US" sz="1600" b="1" dirty="0" err="1">
                <a:latin typeface="Maiandra GD" panose="020E0502030308020204" pitchFamily="34" charset="0"/>
              </a:rPr>
              <a:t>StandardScaler</a:t>
            </a:r>
            <a:r>
              <a:rPr lang="en-US" sz="1600" b="1" dirty="0">
                <a:latin typeface="Maiandra GD" panose="020E0502030308020204" pitchFamily="34" charset="0"/>
              </a:rPr>
              <a:t> (feature scaling)</a:t>
            </a:r>
          </a:p>
          <a:p>
            <a:r>
              <a:rPr lang="en-US" sz="1600" b="1" dirty="0">
                <a:latin typeface="Maiandra GD" panose="020E0502030308020204" pitchFamily="34" charset="0"/>
              </a:rPr>
              <a:t>   - </a:t>
            </a:r>
            <a:r>
              <a:rPr lang="en-US" sz="1600" b="1" dirty="0" err="1">
                <a:latin typeface="Maiandra GD" panose="020E0502030308020204" pitchFamily="34" charset="0"/>
              </a:rPr>
              <a:t>PolynomialFeatures</a:t>
            </a:r>
            <a:r>
              <a:rPr lang="en-US" sz="1600" b="1" dirty="0">
                <a:latin typeface="Maiandra GD" panose="020E0502030308020204" pitchFamily="34" charset="0"/>
              </a:rPr>
              <a:t> (degree = 3) to capture non-linear relationships</a:t>
            </a:r>
          </a:p>
          <a:p>
            <a:r>
              <a:rPr lang="en-US" sz="1600" b="1" dirty="0">
                <a:latin typeface="Maiandra GD" panose="020E0502030308020204" pitchFamily="34" charset="0"/>
              </a:rPr>
              <a:t>   - </a:t>
            </a:r>
            <a:r>
              <a:rPr lang="en-US" sz="1600" b="1" dirty="0" err="1">
                <a:latin typeface="Maiandra GD" panose="020E0502030308020204" pitchFamily="34" charset="0"/>
              </a:rPr>
              <a:t>LinearRegression</a:t>
            </a:r>
            <a:r>
              <a:rPr lang="en-US" sz="1600" b="1" dirty="0">
                <a:latin typeface="Maiandra GD" panose="020E0502030308020204" pitchFamily="34" charset="0"/>
              </a:rPr>
              <a:t> model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4. Trained the pipeline on the training data and generated predictions (</a:t>
            </a:r>
            <a:r>
              <a:rPr lang="en-US" sz="1600" b="1" dirty="0" err="1">
                <a:latin typeface="Maiandra GD" panose="020E0502030308020204" pitchFamily="34" charset="0"/>
              </a:rPr>
              <a:t>yhat</a:t>
            </a:r>
            <a:r>
              <a:rPr lang="en-US" sz="1600" b="1" dirty="0">
                <a:latin typeface="Maiandra GD" panose="020E0502030308020204" pitchFamily="34" charset="0"/>
              </a:rPr>
              <a:t>) on the test set.</a:t>
            </a:r>
          </a:p>
          <a:p>
            <a:endParaRPr lang="en-US" sz="1600" b="1" dirty="0">
              <a:latin typeface="Maiandra GD" panose="020E0502030308020204" pitchFamily="34" charset="0"/>
            </a:endParaRPr>
          </a:p>
          <a:p>
            <a:r>
              <a:rPr lang="en-US" sz="1600" b="1" dirty="0">
                <a:latin typeface="Maiandra GD" panose="020E0502030308020204" pitchFamily="34" charset="0"/>
              </a:rPr>
              <a:t>5. Visualized model performance using:</a:t>
            </a:r>
          </a:p>
          <a:p>
            <a:r>
              <a:rPr lang="en-US" sz="1600" b="1" dirty="0">
                <a:latin typeface="Maiandra GD" panose="020E0502030308020204" pitchFamily="34" charset="0"/>
              </a:rPr>
              <a:t>   - Distribution plots comparing actual vs predicted values</a:t>
            </a:r>
          </a:p>
          <a:p>
            <a:r>
              <a:rPr lang="en-US" sz="1600" b="1" dirty="0">
                <a:latin typeface="Maiandra GD" panose="020E0502030308020204" pitchFamily="34" charset="0"/>
              </a:rPr>
              <a:t>   - Scatter plot of sensor readings vs predictions</a:t>
            </a:r>
          </a:p>
          <a:p>
            <a:r>
              <a:rPr lang="en-US" sz="1600" b="1" dirty="0">
                <a:latin typeface="Maiandra GD" panose="020E0502030308020204" pitchFamily="34" charset="0"/>
              </a:rPr>
              <a:t>   - Actual vs predicted scatter plot with a reference diagonal 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7564AE-DF50-29D2-D853-508AB66C3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601" y="1996400"/>
            <a:ext cx="4678619" cy="340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77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54273-A8C6-D6FA-99D9-06DD8170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04F8C-8890-F524-9544-540DCBAC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Component : Multi Feature Polynomial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E2050-3102-6850-7DC9-584CE88E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16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AD44D-3FD3-73EE-64C2-86DF584D8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0056BBB-6F2F-9BDF-AD08-C22379901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13BD1D2-4473-8E30-EABA-694932401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9AD3B6-52DB-18BE-A624-AA536C3B9BAF}"/>
              </a:ext>
            </a:extLst>
          </p:cNvPr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33CB0-49B5-F188-6AC4-4E285FECA798}"/>
              </a:ext>
            </a:extLst>
          </p:cNvPr>
          <p:cNvSpPr txBox="1"/>
          <p:nvPr/>
        </p:nvSpPr>
        <p:spPr>
          <a:xfrm>
            <a:off x="435780" y="1694696"/>
            <a:ext cx="66457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6. Evaluated model performance using metrics:</a:t>
            </a:r>
          </a:p>
          <a:p>
            <a:r>
              <a:rPr lang="en-US" b="1" dirty="0">
                <a:latin typeface="Maiandra GD" panose="020E0502030308020204" pitchFamily="34" charset="0"/>
              </a:rPr>
              <a:t>   - Mean Squared Error ≈ 0.00107</a:t>
            </a:r>
          </a:p>
          <a:p>
            <a:r>
              <a:rPr lang="en-US" b="1" dirty="0">
                <a:latin typeface="Maiandra GD" panose="020E0502030308020204" pitchFamily="34" charset="0"/>
              </a:rPr>
              <a:t>   - R² Score ≈ 0.985 (very high accuracy)</a:t>
            </a:r>
          </a:p>
          <a:p>
            <a:r>
              <a:rPr lang="en-US" b="1" dirty="0">
                <a:latin typeface="Maiandra GD" panose="020E0502030308020204" pitchFamily="34" charset="0"/>
              </a:rPr>
              <a:t>   - R² Error ≈ 0.0148</a:t>
            </a: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7. Saved the trained model to a file ("</a:t>
            </a:r>
            <a:r>
              <a:rPr lang="en-US" b="1" dirty="0" err="1">
                <a:latin typeface="Maiandra GD" panose="020E0502030308020204" pitchFamily="34" charset="0"/>
              </a:rPr>
              <a:t>ethylene_polynomial.pkl</a:t>
            </a:r>
            <a:r>
              <a:rPr lang="en-US" b="1" dirty="0">
                <a:latin typeface="Maiandra GD" panose="020E0502030308020204" pitchFamily="34" charset="0"/>
              </a:rPr>
              <a:t>") using </a:t>
            </a:r>
            <a:r>
              <a:rPr lang="en-US" b="1" dirty="0" err="1">
                <a:latin typeface="Maiandra GD" panose="020E0502030308020204" pitchFamily="34" charset="0"/>
              </a:rPr>
              <a:t>joblib</a:t>
            </a:r>
            <a:r>
              <a:rPr lang="en-US" b="1" dirty="0">
                <a:latin typeface="Maiandra GD" panose="020E0502030308020204" pitchFamily="34" charset="0"/>
              </a:rPr>
              <a:t> and reloaded it for reuse.</a:t>
            </a: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8. Tested the saved model on a sample input and converted predictions back from log scale to ppm, showing close agreement between actual (~10 ppm) and predicted (~9.98 ppm) values.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F8B83D-9458-D942-78C3-E0881E2FA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741" y="2414744"/>
            <a:ext cx="3791479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5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EBB76-DEA9-3A9D-9478-3FFE5142F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CF02-3E3D-CB71-4768-1B2F4FAC6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Component : PR With K Fold Cross 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6C4A8-F9A8-51B5-10B5-FFBEC9C2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17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9D596-9EAC-9BB1-0268-1118DA04A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6BDB97B-8E84-4503-9F90-7D137F0A9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285B07C-67C5-D2BC-EBC3-D52B62320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29C360-020B-E26C-C2E7-0996D3A451B9}"/>
              </a:ext>
            </a:extLst>
          </p:cNvPr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CE4620-5D98-CA0A-2FD9-60242D13108A}"/>
              </a:ext>
            </a:extLst>
          </p:cNvPr>
          <p:cNvSpPr txBox="1"/>
          <p:nvPr/>
        </p:nvSpPr>
        <p:spPr>
          <a:xfrm>
            <a:off x="435780" y="1694696"/>
            <a:ext cx="66457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Maiandra GD" panose="020E0502030308020204" pitchFamily="34" charset="0"/>
              </a:rPr>
              <a:t>1. Loaded the final processed dataset ("Final_Data.csv") and reduced its size by sampling every 50th row to improve efficiency.</a:t>
            </a: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2. Selected 16 sensor features as input variables (X) and ethylene concentration as the target variable (Y).</a:t>
            </a: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3. Implemented a function to evaluate polynomial regression models of different degrees (1 to 3) using K-Fold cross-validation (10 splits), calculating Mean Squared Error (MSE) for each degree.</a:t>
            </a: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4. Plotted MSE vs polynomial degree to analyze how model complexity affects performance and to help choose the optimal degree.</a:t>
            </a:r>
          </a:p>
          <a:p>
            <a:endParaRPr lang="en-US" b="1" dirty="0">
              <a:latin typeface="Maiandra GD" panose="020E0502030308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631264-B979-394F-4437-83D467A29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014" y="2163338"/>
            <a:ext cx="4411986" cy="331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55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C9B47-9BAB-9F36-0945-3008BE01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BDC2-E445-773A-C6E1-4B702AA4C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Component : PR With K Fold Cross 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69483-80CA-00AE-B41C-65211F34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18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E2B79-66EF-488B-1DFF-E1B5EC489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5473E30-0449-30AC-2048-DC4E5390C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43136F9-C01A-FF8A-58B7-3AE1A9FCA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B1D18A-7629-6970-79B3-634593A70E7D}"/>
              </a:ext>
            </a:extLst>
          </p:cNvPr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DDE444-8930-5450-292E-9C287D90FB7B}"/>
              </a:ext>
            </a:extLst>
          </p:cNvPr>
          <p:cNvSpPr txBox="1"/>
          <p:nvPr/>
        </p:nvSpPr>
        <p:spPr>
          <a:xfrm>
            <a:off x="435780" y="1694696"/>
            <a:ext cx="117562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Maiandra GD" panose="020E0502030308020204" pitchFamily="34" charset="0"/>
              </a:rPr>
              <a:t>5. Built a polynomial regression pipeline (degree = 2) with:</a:t>
            </a:r>
          </a:p>
          <a:p>
            <a:r>
              <a:rPr lang="en-US" b="1" dirty="0">
                <a:latin typeface="Maiandra GD" panose="020E0502030308020204" pitchFamily="34" charset="0"/>
              </a:rPr>
              <a:t>   - </a:t>
            </a:r>
            <a:r>
              <a:rPr lang="en-US" b="1" dirty="0" err="1">
                <a:latin typeface="Maiandra GD" panose="020E0502030308020204" pitchFamily="34" charset="0"/>
              </a:rPr>
              <a:t>StandardScaler</a:t>
            </a:r>
            <a:r>
              <a:rPr lang="en-US" b="1" dirty="0">
                <a:latin typeface="Maiandra GD" panose="020E0502030308020204" pitchFamily="34" charset="0"/>
              </a:rPr>
              <a:t> (feature scaling)</a:t>
            </a:r>
          </a:p>
          <a:p>
            <a:r>
              <a:rPr lang="en-US" b="1" dirty="0">
                <a:latin typeface="Maiandra GD" panose="020E0502030308020204" pitchFamily="34" charset="0"/>
              </a:rPr>
              <a:t>   - </a:t>
            </a:r>
            <a:r>
              <a:rPr lang="en-US" b="1" dirty="0" err="1">
                <a:latin typeface="Maiandra GD" panose="020E0502030308020204" pitchFamily="34" charset="0"/>
              </a:rPr>
              <a:t>PolynomialFeatures</a:t>
            </a:r>
            <a:r>
              <a:rPr lang="en-US" b="1" dirty="0">
                <a:latin typeface="Maiandra GD" panose="020E0502030308020204" pitchFamily="34" charset="0"/>
              </a:rPr>
              <a:t> (degree = 2)</a:t>
            </a:r>
          </a:p>
          <a:p>
            <a:r>
              <a:rPr lang="en-US" b="1" dirty="0">
                <a:latin typeface="Maiandra GD" panose="020E0502030308020204" pitchFamily="34" charset="0"/>
              </a:rPr>
              <a:t>   - </a:t>
            </a:r>
            <a:r>
              <a:rPr lang="en-US" b="1" dirty="0" err="1">
                <a:latin typeface="Maiandra GD" panose="020E0502030308020204" pitchFamily="34" charset="0"/>
              </a:rPr>
              <a:t>LinearRegression</a:t>
            </a:r>
            <a:r>
              <a:rPr lang="en-US" b="1" dirty="0">
                <a:latin typeface="Maiandra GD" panose="020E0502030308020204" pitchFamily="34" charset="0"/>
              </a:rPr>
              <a:t> model</a:t>
            </a: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6. Evaluated the model using 10-fold cross-validation, computing:</a:t>
            </a:r>
          </a:p>
          <a:p>
            <a:r>
              <a:rPr lang="en-US" b="1" dirty="0">
                <a:latin typeface="Maiandra GD" panose="020E0502030308020204" pitchFamily="34" charset="0"/>
              </a:rPr>
              <a:t>   - Negative Mean Squared Error (used internally by </a:t>
            </a:r>
            <a:r>
              <a:rPr lang="en-US" b="1" dirty="0" err="1">
                <a:latin typeface="Maiandra GD" panose="020E0502030308020204" pitchFamily="34" charset="0"/>
              </a:rPr>
              <a:t>sklearn</a:t>
            </a:r>
            <a:r>
              <a:rPr lang="en-US" b="1" dirty="0">
                <a:latin typeface="Maiandra GD" panose="020E0502030308020204" pitchFamily="34" charset="0"/>
              </a:rPr>
              <a:t>)</a:t>
            </a:r>
          </a:p>
          <a:p>
            <a:r>
              <a:rPr lang="en-US" b="1" dirty="0">
                <a:latin typeface="Maiandra GD" panose="020E0502030308020204" pitchFamily="34" charset="0"/>
              </a:rPr>
              <a:t>   - R² scores for each fold</a:t>
            </a: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7. Visualized the distribution of R² scores across folds using a histogram.</a:t>
            </a: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8. Reported final evaluation metrics:</a:t>
            </a:r>
          </a:p>
          <a:p>
            <a:r>
              <a:rPr lang="en-US" b="1" dirty="0">
                <a:latin typeface="Maiandra GD" panose="020E0502030308020204" pitchFamily="34" charset="0"/>
              </a:rPr>
              <a:t>   - Average MSE ≈ -0.00161 (negative due to scoring convention)</a:t>
            </a:r>
          </a:p>
          <a:p>
            <a:r>
              <a:rPr lang="en-US" b="1" dirty="0">
                <a:latin typeface="Maiandra GD" panose="020E0502030308020204" pitchFamily="34" charset="0"/>
              </a:rPr>
              <a:t>   - Standard deviation of MSE ≈ 0.00018</a:t>
            </a:r>
          </a:p>
          <a:p>
            <a:r>
              <a:rPr lang="en-US" b="1" dirty="0">
                <a:latin typeface="Maiandra GD" panose="020E0502030308020204" pitchFamily="34" charset="0"/>
              </a:rPr>
              <a:t>   - Average R² ≈ 0.978</a:t>
            </a:r>
          </a:p>
          <a:p>
            <a:r>
              <a:rPr lang="en-US" b="1" dirty="0">
                <a:latin typeface="Maiandra GD" panose="020E0502030308020204" pitchFamily="34" charset="0"/>
              </a:rPr>
              <a:t>   - R² error ≈ 0.022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5FC17A-E0D2-431A-A099-CA3034A4AF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790"/>
          <a:stretch>
            <a:fillRect/>
          </a:stretch>
        </p:blipFill>
        <p:spPr>
          <a:xfrm>
            <a:off x="7308146" y="4988560"/>
            <a:ext cx="4564989" cy="138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42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FCD6-3360-272D-46A3-B3723EFBF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AA482-F6D6-DE40-7365-2CFD1301E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Component : Sensitivity 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D2796-4B99-F340-3E8C-4323098F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19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4C272-2EB3-A620-D37A-C1455962B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5F59D6B-0163-0E05-1F54-FB5676BC5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6A9B6A5-8C5E-8AA0-A489-D1D5168B0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53609A-D19E-C269-5C8D-5CF7A64E1321}"/>
              </a:ext>
            </a:extLst>
          </p:cNvPr>
          <p:cNvSpPr/>
          <p:nvPr/>
        </p:nvSpPr>
        <p:spPr>
          <a:xfrm>
            <a:off x="2151529" y="5242637"/>
            <a:ext cx="5979459" cy="10057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F5571E-0B8E-75F0-AE53-42DEF099EA7D}"/>
              </a:ext>
            </a:extLst>
          </p:cNvPr>
          <p:cNvSpPr txBox="1"/>
          <p:nvPr/>
        </p:nvSpPr>
        <p:spPr>
          <a:xfrm>
            <a:off x="435780" y="1694696"/>
            <a:ext cx="67168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Maiandra GD" panose="020E0502030308020204" pitchFamily="34" charset="0"/>
              </a:rPr>
              <a:t>1. Loaded the final processed dataset ("Final_Data.csv") into a pandas </a:t>
            </a:r>
            <a:r>
              <a:rPr lang="en-US" b="1" dirty="0" err="1">
                <a:latin typeface="Maiandra GD" panose="020E0502030308020204" pitchFamily="34" charset="0"/>
              </a:rPr>
              <a:t>DataFrame</a:t>
            </a:r>
            <a:r>
              <a:rPr lang="en-US" b="1" dirty="0">
                <a:latin typeface="Maiandra GD" panose="020E0502030308020204" pitchFamily="34" charset="0"/>
              </a:rPr>
              <a:t> and inspected the initial rows.</a:t>
            </a: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2. Converted the ethylene concentration values back from logarithmic scale to original ppm values using the exponential function.</a:t>
            </a: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3. Selected ethylene concentration as the independent variable and TGS2620-3 sensor readings as the dependent variable for analysis.</a:t>
            </a: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4. Created a scatter plot to visualize the relationship between ethylene concentration (ppm) and normalized sensor sensitivity.</a:t>
            </a:r>
          </a:p>
          <a:p>
            <a:endParaRPr lang="en-US" b="1" dirty="0">
              <a:latin typeface="Maiandra GD" panose="020E0502030308020204" pitchFamily="34" charset="0"/>
            </a:endParaRPr>
          </a:p>
          <a:p>
            <a:r>
              <a:rPr lang="en-US" b="1" dirty="0">
                <a:latin typeface="Maiandra GD" panose="020E0502030308020204" pitchFamily="34" charset="0"/>
              </a:rPr>
              <a:t>5. Configured the plot with labels, title, grid, and styling to clearly show how the TGS2620-3 sensor responds to varying ethylene concentrations.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4ECFB4-50E5-881C-7651-A3BF829CF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640" y="2285467"/>
            <a:ext cx="4532093" cy="29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81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sym typeface="+mn-ea"/>
              </a:rPr>
              <a:t>Department of </a:t>
            </a:r>
            <a:r>
              <a:rPr lang="en-US" altLang="en-IN">
                <a:sym typeface="+mn-ea"/>
              </a:rPr>
              <a:t>CSE (AIML &amp; IOT)</a:t>
            </a:r>
            <a:r>
              <a:rPr lang="en-IN">
                <a:sym typeface="+mn-ea"/>
              </a:rPr>
              <a:t>, VNRVJIET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824EF-4F39-42CE-B61A-92299691A099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Reviews-De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ProjectReviews-Dept</Template>
  <TotalTime>934</TotalTime>
  <Words>1811</Words>
  <Application>Microsoft Office PowerPoint</Application>
  <PresentationFormat>Widescreen</PresentationFormat>
  <Paragraphs>207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Centaur</vt:lpstr>
      <vt:lpstr>Maiandra GD</vt:lpstr>
      <vt:lpstr>Perpetua</vt:lpstr>
      <vt:lpstr>Times New Roman</vt:lpstr>
      <vt:lpstr>ProjectReviews-Dept</vt:lpstr>
      <vt:lpstr>Predicting Ethylene  Concentration Using Ml</vt:lpstr>
      <vt:lpstr>Agenda</vt:lpstr>
      <vt:lpstr>Abstract</vt:lpstr>
      <vt:lpstr>Summary of Literature Review</vt:lpstr>
      <vt:lpstr>Summary of Literature Review</vt:lpstr>
      <vt:lpstr>Proposed System</vt:lpstr>
      <vt:lpstr>System Architecture</vt:lpstr>
      <vt:lpstr>System Requirements</vt:lpstr>
      <vt:lpstr>System Requirements</vt:lpstr>
      <vt:lpstr>Work Flow Diagram</vt:lpstr>
      <vt:lpstr>Project Structure</vt:lpstr>
      <vt:lpstr>Component : Outlier Removal</vt:lpstr>
      <vt:lpstr>Component : Data Smoothing</vt:lpstr>
      <vt:lpstr>Component : Correlation Heatmap</vt:lpstr>
      <vt:lpstr>Component : Multi Feature Polynomial Regression</vt:lpstr>
      <vt:lpstr>Component : Multi Feature Polynomial Regression</vt:lpstr>
      <vt:lpstr>Component : PR With K Fold Cross Validation</vt:lpstr>
      <vt:lpstr>Component : PR With K Fold Cross Validation</vt:lpstr>
      <vt:lpstr>Component : Sensitivity Plots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Chakravarthula Kiran</dc:creator>
  <cp:lastModifiedBy>Manjunadh</cp:lastModifiedBy>
  <cp:revision>55</cp:revision>
  <dcterms:created xsi:type="dcterms:W3CDTF">2017-05-02T09:27:00Z</dcterms:created>
  <dcterms:modified xsi:type="dcterms:W3CDTF">2026-05-01T07:37:19Z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9A8C4CED882F480EBC6E1DB52948737A_13</vt:lpwstr>
  </property>
  <property fmtid="{D5CDD505-2E9C-101B-9397-08002B2CF9AE}" pid="3" name="KSOProductBuildVer">
    <vt:lpwstr>1033-12.2.0.23196</vt:lpwstr>
  </property>
</Properties>
</file>